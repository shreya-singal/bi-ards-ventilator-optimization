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302" r:id="rId3"/>
    <p:sldId id="355" r:id="rId4"/>
    <p:sldId id="356" r:id="rId5"/>
    <p:sldId id="354" r:id="rId6"/>
    <p:sldId id="335" r:id="rId7"/>
    <p:sldId id="327" r:id="rId8"/>
    <p:sldId id="329" r:id="rId9"/>
    <p:sldId id="330" r:id="rId10"/>
    <p:sldId id="331" r:id="rId11"/>
    <p:sldId id="332" r:id="rId12"/>
    <p:sldId id="333" r:id="rId13"/>
    <p:sldId id="334" r:id="rId14"/>
    <p:sldId id="328" r:id="rId15"/>
    <p:sldId id="336" r:id="rId16"/>
    <p:sldId id="337" r:id="rId17"/>
    <p:sldId id="339" r:id="rId18"/>
    <p:sldId id="340" r:id="rId19"/>
    <p:sldId id="338" r:id="rId20"/>
    <p:sldId id="342" r:id="rId21"/>
    <p:sldId id="343" r:id="rId22"/>
    <p:sldId id="344" r:id="rId23"/>
    <p:sldId id="345" r:id="rId24"/>
    <p:sldId id="346" r:id="rId25"/>
    <p:sldId id="349" r:id="rId26"/>
    <p:sldId id="350" r:id="rId27"/>
    <p:sldId id="351" r:id="rId28"/>
    <p:sldId id="352" r:id="rId29"/>
    <p:sldId id="347" r:id="rId30"/>
    <p:sldId id="353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0B6D2-ABB5-40F3-8AB8-878EB51B790F}" v="11" dt="2026-05-10T18:37:58.526"/>
    <p1510:client id="{5E50981A-99C8-4B3F-8D7F-CF873EB5B1F5}" v="87" dt="2026-05-10T08:13:32.2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52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Singal" userId="45f0f47c5d622bf9" providerId="LiveId" clId="{753993F8-FB48-4193-8610-17CBD60A53CE}"/>
    <pc:docChg chg="undo custSel addSld delSld modSld sldOrd">
      <pc:chgData name="Shreya Singal" userId="45f0f47c5d622bf9" providerId="LiveId" clId="{753993F8-FB48-4193-8610-17CBD60A53CE}" dt="2026-05-10T18:39:09.590" v="186" actId="20577"/>
      <pc:docMkLst>
        <pc:docMk/>
      </pc:docMkLst>
      <pc:sldChg chg="modSp mod">
        <pc:chgData name="Shreya Singal" userId="45f0f47c5d622bf9" providerId="LiveId" clId="{753993F8-FB48-4193-8610-17CBD60A53CE}" dt="2026-05-10T08:26:46.223" v="41" actId="20577"/>
        <pc:sldMkLst>
          <pc:docMk/>
          <pc:sldMk cId="708182243" sldId="257"/>
        </pc:sldMkLst>
        <pc:spChg chg="mod">
          <ac:chgData name="Shreya Singal" userId="45f0f47c5d622bf9" providerId="LiveId" clId="{753993F8-FB48-4193-8610-17CBD60A53CE}" dt="2026-05-10T08:26:46.223" v="41" actId="20577"/>
          <ac:spMkLst>
            <pc:docMk/>
            <pc:sldMk cId="708182243" sldId="257"/>
            <ac:spMk id="3" creationId="{13910FC6-DF23-7C6E-8CEE-A9FC0EE9CA2E}"/>
          </ac:spMkLst>
        </pc:spChg>
      </pc:sldChg>
      <pc:sldChg chg="ord">
        <pc:chgData name="Shreya Singal" userId="45f0f47c5d622bf9" providerId="LiveId" clId="{753993F8-FB48-4193-8610-17CBD60A53CE}" dt="2026-05-10T08:27:51.882" v="43"/>
        <pc:sldMkLst>
          <pc:docMk/>
          <pc:sldMk cId="3719066551" sldId="327"/>
        </pc:sldMkLst>
      </pc:sldChg>
      <pc:sldChg chg="del">
        <pc:chgData name="Shreya Singal" userId="45f0f47c5d622bf9" providerId="LiveId" clId="{753993F8-FB48-4193-8610-17CBD60A53CE}" dt="2026-05-10T08:24:16.607" v="0" actId="47"/>
        <pc:sldMkLst>
          <pc:docMk/>
          <pc:sldMk cId="1691864857" sldId="348"/>
        </pc:sldMkLst>
      </pc:sldChg>
      <pc:sldChg chg="addSp delSp modSp add mod">
        <pc:chgData name="Shreya Singal" userId="45f0f47c5d622bf9" providerId="LiveId" clId="{753993F8-FB48-4193-8610-17CBD60A53CE}" dt="2026-05-10T18:18:33.766" v="114" actId="1076"/>
        <pc:sldMkLst>
          <pc:docMk/>
          <pc:sldMk cId="1183939684" sldId="354"/>
        </pc:sldMkLst>
        <pc:spChg chg="mod">
          <ac:chgData name="Shreya Singal" userId="45f0f47c5d622bf9" providerId="LiveId" clId="{753993F8-FB48-4193-8610-17CBD60A53CE}" dt="2026-05-10T18:16:39.994" v="80" actId="20577"/>
          <ac:spMkLst>
            <pc:docMk/>
            <pc:sldMk cId="1183939684" sldId="354"/>
            <ac:spMk id="2" creationId="{B33CF807-A752-1DD2-A056-C90758BEBF42}"/>
          </ac:spMkLst>
        </pc:spChg>
        <pc:spChg chg="del mod">
          <ac:chgData name="Shreya Singal" userId="45f0f47c5d622bf9" providerId="LiveId" clId="{753993F8-FB48-4193-8610-17CBD60A53CE}" dt="2026-05-10T18:16:07.151" v="53" actId="478"/>
          <ac:spMkLst>
            <pc:docMk/>
            <pc:sldMk cId="1183939684" sldId="354"/>
            <ac:spMk id="3" creationId="{D330DD2F-23E7-7DB5-E321-47EDCD168468}"/>
          </ac:spMkLst>
        </pc:spChg>
        <pc:spChg chg="add">
          <ac:chgData name="Shreya Singal" userId="45f0f47c5d622bf9" providerId="LiveId" clId="{753993F8-FB48-4193-8610-17CBD60A53CE}" dt="2026-05-10T18:16:08.099" v="55"/>
          <ac:spMkLst>
            <pc:docMk/>
            <pc:sldMk cId="1183939684" sldId="354"/>
            <ac:spMk id="8" creationId="{B6084D19-9CDC-D702-C431-5D0C3BEEC05F}"/>
          </ac:spMkLst>
        </pc:spChg>
        <pc:spChg chg="add mod">
          <ac:chgData name="Shreya Singal" userId="45f0f47c5d622bf9" providerId="LiveId" clId="{753993F8-FB48-4193-8610-17CBD60A53CE}" dt="2026-05-10T18:18:23.131" v="113" actId="14100"/>
          <ac:spMkLst>
            <pc:docMk/>
            <pc:sldMk cId="1183939684" sldId="354"/>
            <ac:spMk id="10" creationId="{1A197324-7FC6-1419-E598-DC5ED47CC6C2}"/>
          </ac:spMkLst>
        </pc:spChg>
        <pc:graphicFrameChg chg="add mod modGraphic">
          <ac:chgData name="Shreya Singal" userId="45f0f47c5d622bf9" providerId="LiveId" clId="{753993F8-FB48-4193-8610-17CBD60A53CE}" dt="2026-05-10T18:18:33.766" v="114" actId="1076"/>
          <ac:graphicFrameMkLst>
            <pc:docMk/>
            <pc:sldMk cId="1183939684" sldId="354"/>
            <ac:graphicFrameMk id="6" creationId="{A42EB746-0F91-1D07-8673-67928F2BFF5B}"/>
          </ac:graphicFrameMkLst>
        </pc:graphicFrameChg>
      </pc:sldChg>
      <pc:sldChg chg="addSp delSp modSp add mod ord">
        <pc:chgData name="Shreya Singal" userId="45f0f47c5d622bf9" providerId="LiveId" clId="{753993F8-FB48-4193-8610-17CBD60A53CE}" dt="2026-05-10T18:34:13.810" v="149" actId="20577"/>
        <pc:sldMkLst>
          <pc:docMk/>
          <pc:sldMk cId="2520544864" sldId="355"/>
        </pc:sldMkLst>
        <pc:spChg chg="mod">
          <ac:chgData name="Shreya Singal" userId="45f0f47c5d622bf9" providerId="LiveId" clId="{753993F8-FB48-4193-8610-17CBD60A53CE}" dt="2026-05-10T18:34:13.810" v="149" actId="20577"/>
          <ac:spMkLst>
            <pc:docMk/>
            <pc:sldMk cId="2520544864" sldId="355"/>
            <ac:spMk id="2" creationId="{C3A721B4-ECB0-7F95-0220-30BEE1CB12B1}"/>
          </ac:spMkLst>
        </pc:spChg>
        <pc:spChg chg="mod">
          <ac:chgData name="Shreya Singal" userId="45f0f47c5d622bf9" providerId="LiveId" clId="{753993F8-FB48-4193-8610-17CBD60A53CE}" dt="2026-05-10T18:33:47.912" v="135" actId="5793"/>
          <ac:spMkLst>
            <pc:docMk/>
            <pc:sldMk cId="2520544864" sldId="355"/>
            <ac:spMk id="6" creationId="{2B5FF581-C79D-80FC-D860-819829F02F04}"/>
          </ac:spMkLst>
        </pc:spChg>
        <pc:spChg chg="add">
          <ac:chgData name="Shreya Singal" userId="45f0f47c5d622bf9" providerId="LiveId" clId="{753993F8-FB48-4193-8610-17CBD60A53CE}" dt="2026-05-10T18:31:59.258" v="119"/>
          <ac:spMkLst>
            <pc:docMk/>
            <pc:sldMk cId="2520544864" sldId="355"/>
            <ac:spMk id="9" creationId="{3B7EF7C2-508B-A4E0-8671-55EECC14B2E7}"/>
          </ac:spMkLst>
        </pc:spChg>
        <pc:graphicFrameChg chg="add del mod modGraphic">
          <ac:chgData name="Shreya Singal" userId="45f0f47c5d622bf9" providerId="LiveId" clId="{753993F8-FB48-4193-8610-17CBD60A53CE}" dt="2026-05-10T18:32:57.731" v="129" actId="478"/>
          <ac:graphicFrameMkLst>
            <pc:docMk/>
            <pc:sldMk cId="2520544864" sldId="355"/>
            <ac:graphicFrameMk id="3" creationId="{5A732FD4-0D84-E51A-5794-F9944494732C}"/>
          </ac:graphicFrameMkLst>
        </pc:graphicFrameChg>
        <pc:graphicFrameChg chg="add mod">
          <ac:chgData name="Shreya Singal" userId="45f0f47c5d622bf9" providerId="LiveId" clId="{753993F8-FB48-4193-8610-17CBD60A53CE}" dt="2026-05-10T18:31:59.258" v="119"/>
          <ac:graphicFrameMkLst>
            <pc:docMk/>
            <pc:sldMk cId="2520544864" sldId="355"/>
            <ac:graphicFrameMk id="7" creationId="{34ADB316-EE79-1535-938E-86FDF98489CF}"/>
          </ac:graphicFrameMkLst>
        </pc:graphicFrameChg>
      </pc:sldChg>
      <pc:sldChg chg="modSp add mod">
        <pc:chgData name="Shreya Singal" userId="45f0f47c5d622bf9" providerId="LiveId" clId="{753993F8-FB48-4193-8610-17CBD60A53CE}" dt="2026-05-10T18:39:09.590" v="186" actId="20577"/>
        <pc:sldMkLst>
          <pc:docMk/>
          <pc:sldMk cId="2893623757" sldId="356"/>
        </pc:sldMkLst>
        <pc:spChg chg="mod">
          <ac:chgData name="Shreya Singal" userId="45f0f47c5d622bf9" providerId="LiveId" clId="{753993F8-FB48-4193-8610-17CBD60A53CE}" dt="2026-05-10T18:37:12.812" v="173" actId="20577"/>
          <ac:spMkLst>
            <pc:docMk/>
            <pc:sldMk cId="2893623757" sldId="356"/>
            <ac:spMk id="2" creationId="{36D6A503-29E8-3737-2A91-CE8A3C7E04A0}"/>
          </ac:spMkLst>
        </pc:spChg>
        <pc:spChg chg="mod">
          <ac:chgData name="Shreya Singal" userId="45f0f47c5d622bf9" providerId="LiveId" clId="{753993F8-FB48-4193-8610-17CBD60A53CE}" dt="2026-05-10T18:39:09.590" v="186" actId="20577"/>
          <ac:spMkLst>
            <pc:docMk/>
            <pc:sldMk cId="2893623757" sldId="356"/>
            <ac:spMk id="6" creationId="{F8AC24D0-8709-D4DB-6399-4092DB85FA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97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4D41-0698-9775-3325-798A6FF2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0A55-E4F6-9B95-2E16-B4A8D16A5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CBB41-514E-C65E-6B45-40EEF15D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3DFD-0326-4B09-B83A-126CC12CE424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9B258-7150-2C90-5189-F2D7BC2C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CCAAF-5985-D867-9237-A6F4B1EE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FFCF8-8AA9-48C4-9561-4CB3747CCF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86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2FB6-A787-57DA-9253-7B37A07A6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762571"/>
            <a:ext cx="6858000" cy="1260872"/>
          </a:xfrm>
        </p:spPr>
        <p:txBody>
          <a:bodyPr anchor="b">
            <a:noAutofit/>
          </a:bodyPr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E8406-C3FC-CBE0-45C9-70A29122D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92500"/>
            <a:ext cx="6858000" cy="8243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6D7CF0-207C-52C3-A2E2-FD31CDA274D6}"/>
              </a:ext>
            </a:extLst>
          </p:cNvPr>
          <p:cNvCxnSpPr>
            <a:cxnSpLocks/>
          </p:cNvCxnSpPr>
          <p:nvPr userDrawn="1"/>
        </p:nvCxnSpPr>
        <p:spPr>
          <a:xfrm>
            <a:off x="657000" y="3055229"/>
            <a:ext cx="783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86DAB73-CBF4-1879-FB15-54D6788A7B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106255" y="737203"/>
            <a:ext cx="931491" cy="90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6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DED3-6197-3EB8-515B-EC3D27E51B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Optimization of Mechanical Ventilation in ARDS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10FC6-DF23-7C6E-8CEE-A9FC0EE9C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Shreya Singal</a:t>
            </a:r>
          </a:p>
          <a:p>
            <a:endParaRPr lang="en-US" dirty="0"/>
          </a:p>
          <a:p>
            <a:r>
              <a:rPr lang="en-US" dirty="0"/>
              <a:t>Mentor: Prof. Vibhor </a:t>
            </a:r>
            <a:r>
              <a:rPr lang="en-US" dirty="0" err="1"/>
              <a:t>Pandhare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18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B409-4696-A29D-A05F-643CB649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8CC60-C931-3B6F-E644-B81163E3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704BD-EEEA-F663-9FBA-6A4B58A78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33" y="939546"/>
            <a:ext cx="8855764" cy="3705146"/>
          </a:xfrm>
        </p:spPr>
        <p:txBody>
          <a:bodyPr>
            <a:normAutofit/>
          </a:bodyPr>
          <a:lstStyle/>
          <a:p>
            <a:r>
              <a:rPr lang="en-US" sz="1800" dirty="0"/>
              <a:t>Patients with </a:t>
            </a:r>
            <a:r>
              <a:rPr lang="en-US" sz="1800" b="1" dirty="0"/>
              <a:t>brain injury (BI)</a:t>
            </a:r>
            <a:r>
              <a:rPr lang="en-US" sz="1800" dirty="0"/>
              <a:t> often require mechanical ventilation to maintain adequate oxygenation. If these patients develop </a:t>
            </a:r>
            <a:r>
              <a:rPr lang="en-US" sz="1800" b="1" dirty="0"/>
              <a:t>ARDS</a:t>
            </a:r>
            <a:r>
              <a:rPr lang="en-US" sz="1800" dirty="0"/>
              <a:t>, lung damage significantly impairs gas exchange.</a:t>
            </a:r>
          </a:p>
          <a:p>
            <a:r>
              <a:rPr lang="en-US" sz="1800" dirty="0"/>
              <a:t>Selecting appropriate ventilator parameters is challenging because:</a:t>
            </a:r>
          </a:p>
          <a:p>
            <a:pPr lvl="1"/>
            <a:r>
              <a:rPr lang="en-US" sz="1800" dirty="0"/>
              <a:t>incorrect settings can reduce oxygen delivery</a:t>
            </a:r>
          </a:p>
          <a:p>
            <a:pPr lvl="1"/>
            <a:r>
              <a:rPr lang="en-US" sz="1800" dirty="0"/>
              <a:t>severe lung damage limits gas exchange</a:t>
            </a:r>
          </a:p>
          <a:p>
            <a:pPr lvl="1"/>
            <a:r>
              <a:rPr lang="en-US" sz="1800" dirty="0"/>
              <a:t>ventilation strategies must balance oxygenation and lung protection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Objective</a:t>
            </a:r>
            <a:endParaRPr lang="en-US" sz="1800" dirty="0">
              <a:solidFill>
                <a:srgbClr val="0070C0"/>
              </a:solidFill>
            </a:endParaRPr>
          </a:p>
          <a:p>
            <a:r>
              <a:rPr lang="en-US" sz="1800" dirty="0"/>
              <a:t>To study how ventilator settings and ARDS severity influence respiratory physiology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CCBF10-7E78-183F-43E5-99B3D5CA4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8AC27-DC06-C062-CE08-B21092E6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2852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1B914-DAB2-9527-AF57-0A160F2F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21B4-ECB0-7F95-0220-30BEE1CB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Motivation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4F917-D974-943C-0372-8A838632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34552-7241-5B7F-5D2F-E1D3966E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3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FF581-C79D-80FC-D860-819829F0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" y="841153"/>
            <a:ext cx="7886700" cy="326350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Why Mechanical Ventilation in ARDS?</a:t>
            </a:r>
            <a:endParaRPr lang="en-US" dirty="0"/>
          </a:p>
          <a:p>
            <a:r>
              <a:rPr lang="en-US" dirty="0"/>
              <a:t>ARDS affects 10% of all ICU admissions and up to 23% of all mechanically ventilated patients</a:t>
            </a:r>
          </a:p>
          <a:p>
            <a:r>
              <a:rPr lang="en-US" dirty="0"/>
              <a:t>Mortality ranges from 35–46% even with treatment</a:t>
            </a:r>
          </a:p>
          <a:p>
            <a:r>
              <a:rPr lang="en-US" dirty="0"/>
              <a:t>When combined with Brain Injury, outcomes worsen significantly — BI impairs the brain's ability to control breathing, making ventilator dependence more severe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Why is setting selection hard?</a:t>
            </a:r>
            <a:endParaRPr lang="en-US" dirty="0"/>
          </a:p>
          <a:p>
            <a:r>
              <a:rPr lang="en-US" dirty="0"/>
              <a:t>BI and ARDS impose </a:t>
            </a:r>
            <a:r>
              <a:rPr lang="en-US" b="1" dirty="0"/>
              <a:t>conflicting demands</a:t>
            </a:r>
            <a:r>
              <a:rPr lang="en-US" dirty="0"/>
              <a:t> — ARDS needs high PEEP to keep lungs open, but high PEEP can raise intracranial pressure in BI patients</a:t>
            </a:r>
          </a:p>
          <a:p>
            <a:r>
              <a:rPr lang="en-US" dirty="0"/>
              <a:t>Wrong settings cause barotrauma (lung damage from pressure), </a:t>
            </a:r>
            <a:r>
              <a:rPr lang="en-US" dirty="0" err="1"/>
              <a:t>volutrauma</a:t>
            </a:r>
            <a:r>
              <a:rPr lang="en-US" dirty="0"/>
              <a:t> (from excess volume), or hypoxia</a:t>
            </a:r>
          </a:p>
          <a:p>
            <a:r>
              <a:rPr lang="en-US" dirty="0"/>
              <a:t>Clinicians currently rely entirely on experience and general protocols — no personalized guidance exists for BI+ARDS patients</a:t>
            </a:r>
          </a:p>
        </p:txBody>
      </p:sp>
    </p:spTree>
    <p:extLst>
      <p:ext uri="{BB962C8B-B14F-4D97-AF65-F5344CB8AC3E}">
        <p14:creationId xmlns:p14="http://schemas.microsoft.com/office/powerpoint/2010/main" val="252054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21BC3-6B8F-DE49-D1D3-60EA3D617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A503-29E8-3737-2A91-CE8A3C7E0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Objectives and Workflow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B00AD-FBA8-0D20-8BD0-C8D37424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C358E-2996-57A9-DD30-45B8C0403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4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C24D0-8709-D4DB-6399-4092DB85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" y="841153"/>
            <a:ext cx="7886700" cy="3263504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Simulate</a:t>
            </a:r>
            <a:r>
              <a:rPr lang="en-US" dirty="0"/>
              <a:t> 3,888 patient-ventilator combinations using the Pulse Physiology Engine across varying BI and ARDS severities to generate a comprehensive physiological dataset</a:t>
            </a:r>
          </a:p>
          <a:p>
            <a:endParaRPr lang="en-US" dirty="0"/>
          </a:p>
          <a:p>
            <a:r>
              <a:rPr lang="en-US" b="1" dirty="0"/>
              <a:t>Design</a:t>
            </a:r>
            <a:r>
              <a:rPr lang="en-US" dirty="0"/>
              <a:t> an ARDS-specific health score function based on clinical guidelines (</a:t>
            </a:r>
            <a:r>
              <a:rPr lang="en-US" dirty="0" err="1"/>
              <a:t>ARDSNet</a:t>
            </a:r>
            <a:r>
              <a:rPr lang="en-US" dirty="0"/>
              <a:t>) that converts 8 measured vitals into a single interpretable outcome metric</a:t>
            </a:r>
          </a:p>
          <a:p>
            <a:endParaRPr lang="en-US" dirty="0"/>
          </a:p>
          <a:p>
            <a:r>
              <a:rPr lang="en-US" b="1" dirty="0"/>
              <a:t>Train and compare</a:t>
            </a:r>
            <a:r>
              <a:rPr lang="en-US" dirty="0"/>
              <a:t> 9 ML models to identify the best surrogate model for predicting patient health score from ventilator settings — separately for Pressure Control and Volume Control modes</a:t>
            </a:r>
          </a:p>
          <a:p>
            <a:endParaRPr lang="en-US" dirty="0"/>
          </a:p>
          <a:p>
            <a:r>
              <a:rPr lang="en-US" b="1" dirty="0"/>
              <a:t>Optimize</a:t>
            </a:r>
            <a:r>
              <a:rPr lang="en-US" dirty="0"/>
              <a:t> ventilator settings using grid search over the full action space to find the setting combination that maximizes predicted health score for each of the 6 severity combinations</a:t>
            </a:r>
          </a:p>
          <a:p>
            <a:endParaRPr lang="en-US" dirty="0"/>
          </a:p>
          <a:p>
            <a:r>
              <a:rPr lang="en-US" b="1" dirty="0"/>
              <a:t>Deploy</a:t>
            </a:r>
            <a:r>
              <a:rPr lang="en-US" dirty="0"/>
              <a:t> findings as an interactive clinical decision support tool via </a:t>
            </a:r>
            <a:r>
              <a:rPr lang="en-US" dirty="0" err="1"/>
              <a:t>Streamlit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2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6CA2-B2C1-248A-DD6B-2E449CD5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F807-A752-1DD2-A056-C90758BE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Literature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68EC5-D913-9D61-1C4C-2CDD0C384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83D08-39AC-4FF5-FC7F-B216B5E1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5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2EB746-0F91-1D07-8673-67928F2BF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86858"/>
              </p:ext>
            </p:extLst>
          </p:nvPr>
        </p:nvGraphicFramePr>
        <p:xfrm>
          <a:off x="429466" y="697660"/>
          <a:ext cx="7886700" cy="3489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9257731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066115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469056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Study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What They Did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Gap My Work Fills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996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ARDSNet</a:t>
                      </a:r>
                      <a:r>
                        <a:rPr lang="en-IN" sz="1100" dirty="0"/>
                        <a:t> Trial, NEJM 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Established lung-protective ventilation — low TV (6 mL/kg), PEEP titration reduces ARDS mortality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Protocol is generalized — not personalized to individual severity or co-morbidity like BI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56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LUNG SAFE Study, JAMA 2016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29,144 patients across 50 countries — ARDS affects 23% of ventilated patients, mortality 35–46%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Observational only — does not optimize settings or account for BI co-occurrence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722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Ventilatory Management of ALI, JAMA 2002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Clinical review of PC vs VC strategies in 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Expert opinion based — no data-driven personalized recommendations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23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Explainable ML for MV Duration, PMC 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ML predicts ventilation duration in ARDS from EHR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Prediction only — does not optimize ventilator settings or simulate physiological response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039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Novel ML for Respiratory Failure, Nature 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ML predicts need for MV in ICU patients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Does not address what settings to use once patient is ventilated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39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Dynamic Ventilator in Pulse, PMC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Implements and validates mechanical ventilator model in Pulse Physiology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Single condition modeling — no BI+ARDS combination, no ML optimization on top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9468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A197324-7FC6-1419-E598-DC5ED47CC6C2}"/>
              </a:ext>
            </a:extLst>
          </p:cNvPr>
          <p:cNvSpPr txBox="1"/>
          <p:nvPr/>
        </p:nvSpPr>
        <p:spPr>
          <a:xfrm>
            <a:off x="398370" y="4413116"/>
            <a:ext cx="7948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Research Gap :</a:t>
            </a:r>
            <a:r>
              <a:rPr lang="en-US" sz="1100" dirty="0"/>
              <a:t> </a:t>
            </a:r>
            <a:r>
              <a:rPr lang="en-US" sz="1100" i="1" dirty="0"/>
              <a:t>No existing work combines Brain Injury and ARDS in a unified simulation framework, runs a full factorial ventilator parameter sweep, and uses ML to generate personalized optimal settings for each severity combination.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18393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1837-E3E1-9C1B-DC9B-854E33C0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07E1D-83B0-2A08-56A2-4FCC1451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Simulation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24D1A-FAE8-4CBD-A555-04EF15B1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615FF-8113-EAD1-2B26-E2D60341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6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DDA17-3621-51A1-A118-289AEF79A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" y="841153"/>
            <a:ext cx="7886700" cy="326350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Step 1: Load healthy patient (StandardMale@0s.json)</a:t>
            </a:r>
          </a:p>
          <a:p>
            <a:r>
              <a:rPr lang="en-US" dirty="0"/>
              <a:t>Step 2: Apply Brain Injury (severity 0.3 or 0.7)</a:t>
            </a:r>
          </a:p>
          <a:p>
            <a:r>
              <a:rPr lang="en-US" dirty="0"/>
              <a:t>Step 3: Apply ARDS (severity 0.3, 0.6, or 0.9)</a:t>
            </a:r>
          </a:p>
          <a:p>
            <a:r>
              <a:rPr lang="en-US" dirty="0"/>
              <a:t>Step 4: Set Ventilator (all parameters)</a:t>
            </a:r>
          </a:p>
          <a:p>
            <a:r>
              <a:rPr lang="en-US" dirty="0"/>
              <a:t>Step 5: Run simulation for 6 hours</a:t>
            </a:r>
          </a:p>
          <a:p>
            <a:r>
              <a:rPr lang="en-US" dirty="0"/>
              <a:t>Step 6: Record vitals every 2 hours</a:t>
            </a:r>
          </a:p>
          <a:p>
            <a:r>
              <a:rPr lang="en-US" dirty="0"/>
              <a:t>Step 7: Save results to JSON + CSV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Time step:</a:t>
            </a:r>
            <a:r>
              <a:rPr lang="en-US" dirty="0"/>
              <a:t> 2 hours between measurements (4 snapshots: 0h, 2h, 4h, 6h)</a:t>
            </a:r>
          </a:p>
        </p:txBody>
      </p:sp>
    </p:spTree>
    <p:extLst>
      <p:ext uri="{BB962C8B-B14F-4D97-AF65-F5344CB8AC3E}">
        <p14:creationId xmlns:p14="http://schemas.microsoft.com/office/powerpoint/2010/main" val="4007732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6B9A-63A5-9FE7-1CCD-4909C72D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6C91-F694-CB6C-CD10-06009E68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All Ventilator Parameters Explained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1C55A-AE0C-145B-458A-6C12848B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96630-91FB-7639-AD98-364216E48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7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3D471A-C2E3-83F9-3680-47F7A1541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525985"/>
              </p:ext>
            </p:extLst>
          </p:nvPr>
        </p:nvGraphicFramePr>
        <p:xfrm>
          <a:off x="685239" y="934010"/>
          <a:ext cx="7060266" cy="3275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3422">
                  <a:extLst>
                    <a:ext uri="{9D8B030D-6E8A-4147-A177-3AD203B41FA5}">
                      <a16:colId xmlns:a16="http://schemas.microsoft.com/office/drawing/2014/main" val="4141414245"/>
                    </a:ext>
                  </a:extLst>
                </a:gridCol>
                <a:gridCol w="2353422">
                  <a:extLst>
                    <a:ext uri="{9D8B030D-6E8A-4147-A177-3AD203B41FA5}">
                      <a16:colId xmlns:a16="http://schemas.microsoft.com/office/drawing/2014/main" val="793752697"/>
                    </a:ext>
                  </a:extLst>
                </a:gridCol>
                <a:gridCol w="2353422">
                  <a:extLst>
                    <a:ext uri="{9D8B030D-6E8A-4147-A177-3AD203B41FA5}">
                      <a16:colId xmlns:a16="http://schemas.microsoft.com/office/drawing/2014/main" val="2482981669"/>
                    </a:ext>
                  </a:extLst>
                </a:gridCol>
              </a:tblGrid>
              <a:tr h="34634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What it Controls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Normal Range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984087"/>
                  </a:ext>
                </a:extLst>
              </a:tr>
              <a:tr h="3331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ventilation_mode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How breath is delivered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Pressure or Volume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435505"/>
                  </a:ext>
                </a:extLst>
              </a:tr>
              <a:tr h="3331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sub_mode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Who triggers breath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CMV or AC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14307"/>
                  </a:ext>
                </a:extLst>
              </a:tr>
              <a:tr h="3331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fio2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Oxygen concentration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0.3 - 1.0 (30-100%)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029333"/>
                  </a:ext>
                </a:extLst>
              </a:tr>
              <a:tr h="465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peep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Keeps lungs open after exhale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5-15 cmH2O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47044"/>
                  </a:ext>
                </a:extLst>
              </a:tr>
              <a:tr h="4650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inspiratory_pressure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How HARD ventilator pushes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8-20 cmH2O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906996"/>
                  </a:ext>
                </a:extLst>
              </a:tr>
              <a:tr h="3331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tidal_volume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How MUCH air per breath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300-700 mL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636887"/>
                  </a:ext>
                </a:extLst>
              </a:tr>
              <a:tr h="3331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respiration_rate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Breaths per minute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12-24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270965"/>
                  </a:ext>
                </a:extLst>
              </a:tr>
              <a:tr h="3331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flow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976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How FAST air is delivered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55529" marR="55529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40-60 L/min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55529" marR="49976" marT="34705" marB="34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725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06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3584-4177-6B26-DC3F-58F3E5F9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7BA1-E3AB-B6AC-E24F-B8ADC1544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Experimental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1359C-A057-25F3-DCEB-A896A3DB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A6CC9-1CAB-EC50-73B6-335986DE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8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9DD87-65A4-0A5B-17F2-EFBFD876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910" y="841153"/>
            <a:ext cx="7886700" cy="3263504"/>
          </a:xfrm>
        </p:spPr>
        <p:txBody>
          <a:bodyPr>
            <a:normAutofit/>
          </a:bodyPr>
          <a:lstStyle/>
          <a:p>
            <a:pPr marL="628650" lvl="1">
              <a:buFont typeface="Arial" panose="020B0604020202020204" pitchFamily="34" charset="0"/>
              <a:buChar char="•"/>
            </a:pPr>
            <a:r>
              <a:rPr lang="en-IN" sz="1800" dirty="0"/>
              <a:t>TOTAL = 3,888 SIMULATIONS</a:t>
            </a:r>
          </a:p>
          <a:p>
            <a:pPr marL="1028700" lvl="2"/>
            <a:r>
              <a:rPr lang="en-IN" sz="1800" dirty="0"/>
              <a:t>PRESSURE CONTROL    (972 simulations)   </a:t>
            </a:r>
          </a:p>
          <a:p>
            <a:pPr marL="1028700" lvl="2"/>
            <a:r>
              <a:rPr lang="en-IN" sz="1800" dirty="0"/>
              <a:t>VOLUME CONTROL      (2,916 simulations)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29A2D-E6D7-617A-3080-49AEDB0BE83D}"/>
              </a:ext>
            </a:extLst>
          </p:cNvPr>
          <p:cNvSpPr txBox="1"/>
          <p:nvPr/>
        </p:nvSpPr>
        <p:spPr>
          <a:xfrm>
            <a:off x="512667" y="2255076"/>
            <a:ext cx="7125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Pressure Control</a:t>
            </a:r>
          </a:p>
          <a:p>
            <a:r>
              <a:rPr lang="en-IN" dirty="0"/>
              <a:t>BI (2) × ARDS (3) × fio2 (3) × peep (3) × RR (3) × </a:t>
            </a:r>
            <a:r>
              <a:rPr lang="en-IN" dirty="0" err="1"/>
              <a:t>InspPress</a:t>
            </a:r>
            <a:r>
              <a:rPr lang="en-IN" dirty="0"/>
              <a:t> (3) × Modes (2)</a:t>
            </a:r>
          </a:p>
          <a:p>
            <a:r>
              <a:rPr lang="en-IN" dirty="0"/>
              <a:t>= 2 × 3 × 3 × 3 × 3 × 3 × 2 = 972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48D28F-3425-BDCC-D2D4-CEBE769806DA}"/>
              </a:ext>
            </a:extLst>
          </p:cNvPr>
          <p:cNvSpPr txBox="1"/>
          <p:nvPr/>
        </p:nvSpPr>
        <p:spPr>
          <a:xfrm>
            <a:off x="512668" y="3122049"/>
            <a:ext cx="7796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Volume Control</a:t>
            </a:r>
          </a:p>
          <a:p>
            <a:r>
              <a:rPr lang="en-IN" dirty="0"/>
              <a:t>BI (2) × ARDS (3) × fio2 (3) × peep (3) × RR (3) × Flow (3) × TV (3) × Modes (2)</a:t>
            </a:r>
          </a:p>
          <a:p>
            <a:r>
              <a:rPr lang="en-IN" dirty="0"/>
              <a:t>= 2 × 3 × 3 × 3 × 3 × 3 × 3 × 2 = 2,916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3FB9AD-8491-8953-B05A-5BD4B2B47C64}"/>
              </a:ext>
            </a:extLst>
          </p:cNvPr>
          <p:cNvSpPr txBox="1"/>
          <p:nvPr/>
        </p:nvSpPr>
        <p:spPr>
          <a:xfrm>
            <a:off x="512669" y="3994630"/>
            <a:ext cx="5207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Total</a:t>
            </a:r>
          </a:p>
          <a:p>
            <a:r>
              <a:rPr lang="en-IN" dirty="0"/>
              <a:t>972 + 2,916 = 3,888 simulations</a:t>
            </a:r>
          </a:p>
        </p:txBody>
      </p:sp>
    </p:spTree>
    <p:extLst>
      <p:ext uri="{BB962C8B-B14F-4D97-AF65-F5344CB8AC3E}">
        <p14:creationId xmlns:p14="http://schemas.microsoft.com/office/powerpoint/2010/main" val="2382029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C846E-65DB-6181-11AD-033A0327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BFA4-BA09-BC4D-BE3B-B79A7F87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09" y="270930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Disease parameters (What's wrong with the patient)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3D53E-71E6-13B2-F511-C7BF9369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074CD-FEAE-B9BC-BE5F-41620917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9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0619ED7-99B1-FD87-7CAF-FBF533EA6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547706"/>
              </p:ext>
            </p:extLst>
          </p:nvPr>
        </p:nvGraphicFramePr>
        <p:xfrm>
          <a:off x="705971" y="1228859"/>
          <a:ext cx="7234517" cy="29392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47665">
                  <a:extLst>
                    <a:ext uri="{9D8B030D-6E8A-4147-A177-3AD203B41FA5}">
                      <a16:colId xmlns:a16="http://schemas.microsoft.com/office/drawing/2014/main" val="3054103744"/>
                    </a:ext>
                  </a:extLst>
                </a:gridCol>
                <a:gridCol w="1050354">
                  <a:extLst>
                    <a:ext uri="{9D8B030D-6E8A-4147-A177-3AD203B41FA5}">
                      <a16:colId xmlns:a16="http://schemas.microsoft.com/office/drawing/2014/main" val="3138706083"/>
                    </a:ext>
                  </a:extLst>
                </a:gridCol>
                <a:gridCol w="1052408">
                  <a:extLst>
                    <a:ext uri="{9D8B030D-6E8A-4147-A177-3AD203B41FA5}">
                      <a16:colId xmlns:a16="http://schemas.microsoft.com/office/drawing/2014/main" val="4278228617"/>
                    </a:ext>
                  </a:extLst>
                </a:gridCol>
                <a:gridCol w="3384090">
                  <a:extLst>
                    <a:ext uri="{9D8B030D-6E8A-4147-A177-3AD203B41FA5}">
                      <a16:colId xmlns:a16="http://schemas.microsoft.com/office/drawing/2014/main" val="4122453815"/>
                    </a:ext>
                  </a:extLst>
                </a:gridCol>
              </a:tblGrid>
              <a:tr h="22216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60102" marR="66781" marT="41738" marB="41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Levels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Values</a:t>
                      </a:r>
                      <a:endParaRPr lang="en-IN" sz="1400" b="1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Explanation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784090"/>
                  </a:ext>
                </a:extLst>
              </a:tr>
              <a:tr h="13139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BI Severity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60102" marR="66781" marT="41738" marB="41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2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0.3, 0.7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Brain Injury Severity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0.3 = Mild brain damage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0.7 = Severe brain damage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Higher severity = Worse breathing control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66781" marR="60102" marT="41738" marB="4173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3258208"/>
                  </a:ext>
                </a:extLst>
              </a:tr>
              <a:tr h="13139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ARDS Severity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0102" marR="66781" marT="41738" marB="417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3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0.3, 0.6, 0.9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6781" marR="66781" marT="41738" marB="4173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Lung Injury Severity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0.3 = Mild lung inflammation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0.6 = Moderate lung damage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0.9 = Severe ARDS, lungs barely work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66781" marR="60102" marT="41738" marB="4173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070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30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1A745-3829-8C84-7330-A6AB528E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C22C-8952-4564-8EA6-A895A83B8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09" y="270930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Mode parameters (How the ventilator works)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B8E1C-253E-9D2E-761C-1DF905A4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4A413-1709-41EC-28A3-AB30A7C8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10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038F5FF-B3C3-DCD1-DCC1-C972DF666C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1083683589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57129641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53500873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4138365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Levels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Explanation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803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PC, VC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>
                          <a:effectLst/>
                          <a:latin typeface="quote-cjk-patch"/>
                        </a:rPr>
                        <a:t>How breath is delivered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= Pressure Control (set pressure, volume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VC = Volume Control (set volume, pressure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is gentler on injured lungs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CMV, AC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 dirty="0">
                          <a:effectLst/>
                          <a:latin typeface="quote-cjk-patch"/>
                        </a:rPr>
                        <a:t>Who triggers the breath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CMV = Machine gives ALL breaths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AC = Patient triggers, machine assists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 </a:t>
                      </a:r>
                      <a:r>
                        <a:rPr lang="en-US" sz="100" b="1" dirty="0">
                          <a:effectLst/>
                          <a:latin typeface="quote-cjk-patch"/>
                        </a:rPr>
                        <a:t>CRITICAL for brain injury patients!</a:t>
                      </a:r>
                      <a:endParaRPr lang="en-US" sz="100" b="0" dirty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3619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067165-065A-39F2-BAC0-E0C2ACEFA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868653"/>
              </p:ext>
            </p:extLst>
          </p:nvPr>
        </p:nvGraphicFramePr>
        <p:xfrm>
          <a:off x="701892" y="1030031"/>
          <a:ext cx="6855356" cy="340949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6068">
                  <a:extLst>
                    <a:ext uri="{9D8B030D-6E8A-4147-A177-3AD203B41FA5}">
                      <a16:colId xmlns:a16="http://schemas.microsoft.com/office/drawing/2014/main" val="1722795721"/>
                    </a:ext>
                  </a:extLst>
                </a:gridCol>
                <a:gridCol w="588309">
                  <a:extLst>
                    <a:ext uri="{9D8B030D-6E8A-4147-A177-3AD203B41FA5}">
                      <a16:colId xmlns:a16="http://schemas.microsoft.com/office/drawing/2014/main" val="4207817253"/>
                    </a:ext>
                  </a:extLst>
                </a:gridCol>
                <a:gridCol w="872719">
                  <a:extLst>
                    <a:ext uri="{9D8B030D-6E8A-4147-A177-3AD203B41FA5}">
                      <a16:colId xmlns:a16="http://schemas.microsoft.com/office/drawing/2014/main" val="3208548295"/>
                    </a:ext>
                  </a:extLst>
                </a:gridCol>
                <a:gridCol w="3738260">
                  <a:extLst>
                    <a:ext uri="{9D8B030D-6E8A-4147-A177-3AD203B41FA5}">
                      <a16:colId xmlns:a16="http://schemas.microsoft.com/office/drawing/2014/main" val="3758925026"/>
                    </a:ext>
                  </a:extLst>
                </a:gridCol>
              </a:tblGrid>
              <a:tr h="25541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50297" marR="55885" marT="34928" marB="34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Levels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Values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Explanation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021968"/>
                  </a:ext>
                </a:extLst>
              </a:tr>
              <a:tr h="15558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ventilation_mode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0297" marR="55885" marT="34928" marB="34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2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PC, VC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How breath is delivered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PC = Pressure Control (set pressure, volume varies)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VC = Volume Control (set volume, pressure varies)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PC is gentler on injured lungs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5885" marR="50297" marT="34928" marB="3492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971728"/>
                  </a:ext>
                </a:extLst>
              </a:tr>
              <a:tr h="155587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sub_mode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0297" marR="55885" marT="34928" marB="349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2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CMV, AC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55885" marR="55885" marT="34928" marB="3492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Who triggers the breath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CMV = Machine gives  breaths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AC = Patient triggers, machine assists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 </a:t>
                      </a:r>
                      <a:r>
                        <a:rPr lang="en-US" sz="1400" b="1" dirty="0">
                          <a:effectLst/>
                        </a:rPr>
                        <a:t>CRITICAL for brain injury patients!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5885" marR="50297" marT="34928" marB="3492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934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98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FD29B-C579-C393-D991-B8540BD2A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A28D-5B3B-C24F-55C3-77656F8A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09" y="270930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Common Settings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F178B-73B5-F4F2-6300-D6CD8921E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C2FAF-8469-CE4D-F130-87763F64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11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FDCD668-21C1-4B5F-B65C-E02C5E87CE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1083683589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57129641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53500873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4138365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Levels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Explanation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803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PC, VC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>
                          <a:effectLst/>
                          <a:latin typeface="quote-cjk-patch"/>
                        </a:rPr>
                        <a:t>How breath is delivered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= Pressure Control (set pressure, volume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VC = Volume Control (set volume, pressure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is gentler on injured lungs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CMV, AC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 dirty="0">
                          <a:effectLst/>
                          <a:latin typeface="quote-cjk-patch"/>
                        </a:rPr>
                        <a:t>Who triggers the breath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CMV = Machine gives ALL breaths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AC = Patient triggers, machine assists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 </a:t>
                      </a:r>
                      <a:r>
                        <a:rPr lang="en-US" sz="100" b="1" dirty="0">
                          <a:effectLst/>
                          <a:latin typeface="quote-cjk-patch"/>
                        </a:rPr>
                        <a:t>CRITICAL for brain injury patients!</a:t>
                      </a:r>
                      <a:endParaRPr lang="en-US" sz="100" b="0" dirty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3619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79756F7-57DF-B7A6-8BED-E6343E585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022289"/>
              </p:ext>
            </p:extLst>
          </p:nvPr>
        </p:nvGraphicFramePr>
        <p:xfrm>
          <a:off x="705968" y="885122"/>
          <a:ext cx="7442951" cy="3987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98014">
                  <a:extLst>
                    <a:ext uri="{9D8B030D-6E8A-4147-A177-3AD203B41FA5}">
                      <a16:colId xmlns:a16="http://schemas.microsoft.com/office/drawing/2014/main" val="1037114511"/>
                    </a:ext>
                  </a:extLst>
                </a:gridCol>
                <a:gridCol w="811828">
                  <a:extLst>
                    <a:ext uri="{9D8B030D-6E8A-4147-A177-3AD203B41FA5}">
                      <a16:colId xmlns:a16="http://schemas.microsoft.com/office/drawing/2014/main" val="1211357276"/>
                    </a:ext>
                  </a:extLst>
                </a:gridCol>
                <a:gridCol w="1181378">
                  <a:extLst>
                    <a:ext uri="{9D8B030D-6E8A-4147-A177-3AD203B41FA5}">
                      <a16:colId xmlns:a16="http://schemas.microsoft.com/office/drawing/2014/main" val="2988110302"/>
                    </a:ext>
                  </a:extLst>
                </a:gridCol>
                <a:gridCol w="3651731">
                  <a:extLst>
                    <a:ext uri="{9D8B030D-6E8A-4147-A177-3AD203B41FA5}">
                      <a16:colId xmlns:a16="http://schemas.microsoft.com/office/drawing/2014/main" val="1107617503"/>
                    </a:ext>
                  </a:extLst>
                </a:gridCol>
              </a:tblGrid>
              <a:tr h="17526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Parameter</a:t>
                      </a:r>
                      <a:endParaRPr lang="en-IN" sz="1400" b="1">
                        <a:effectLst/>
                        <a:latin typeface="quote-cjk-patch"/>
                      </a:endParaRPr>
                    </a:p>
                  </a:txBody>
                  <a:tcPr marL="32443" marR="36048" marT="22530" marB="22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Levels</a:t>
                      </a:r>
                      <a:endParaRPr lang="en-IN" sz="1400" b="1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Values</a:t>
                      </a:r>
                      <a:endParaRPr lang="en-IN" sz="1400" b="1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Explanation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952901"/>
                  </a:ext>
                </a:extLst>
              </a:tr>
              <a:tr h="107406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fio2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32443" marR="36048" marT="22530" marB="22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3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0.3, 0.6, 1.0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Fraction of Inspired Oxygen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0.3 = 30% oxygen (more than room air)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0.6 = 60% oxygen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1.0 = 100% pure oxygen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Higher fio2 = More oxygen to patient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36048" marR="32443" marT="22530" marB="2253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18630072"/>
                  </a:ext>
                </a:extLst>
              </a:tr>
              <a:tr h="10921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peep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32443" marR="36048" marT="22530" marB="22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3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6, 10, 14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Positive End Expiratory Pressure (cmH2O)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Keeps lungs open AFTER exhaling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6 = Low PEEP (lungs may collapse)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14 = High PEEP (keeps ARDS lungs open)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Essential for ARDS patients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36048" marR="32443" marT="22530" marB="2253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04490116"/>
                  </a:ext>
                </a:extLst>
              </a:tr>
              <a:tr h="107406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 err="1">
                          <a:effectLst/>
                        </a:rPr>
                        <a:t>respiration_rate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32443" marR="36048" marT="22530" marB="22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3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12, 18, 24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36048" marR="36048" marT="22530" marB="2253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Breaths per minute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12 = Slow breathing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18 = Normal breathing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24 = Fast breathing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Higher rate = More CO2 removed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36048" marR="32443" marT="22530" marB="2253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30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85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234B3-449E-DC23-7F2F-E01CCE30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2F0A-0BC4-0712-5331-FA42BE82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09" y="270930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Pressure Control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E3E9E-71A4-97F7-2DE7-824C4223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2501F-EEBC-17B8-AA24-BFE00721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12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63C2336-CCF6-7369-A0A3-990DC82A4F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1083683589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57129641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53500873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4138365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Levels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Explanation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803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PC, VC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>
                          <a:effectLst/>
                          <a:latin typeface="quote-cjk-patch"/>
                        </a:rPr>
                        <a:t>How breath is delivered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= Pressure Control (set pressure, volume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VC = Volume Control (set volume, pressure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is gentler on injured lungs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CMV, AC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 dirty="0">
                          <a:effectLst/>
                          <a:latin typeface="quote-cjk-patch"/>
                        </a:rPr>
                        <a:t>Who triggers the breath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CMV = Machine gives ALL breaths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AC = Patient triggers, machine assists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 </a:t>
                      </a:r>
                      <a:r>
                        <a:rPr lang="en-US" sz="100" b="1" dirty="0">
                          <a:effectLst/>
                          <a:latin typeface="quote-cjk-patch"/>
                        </a:rPr>
                        <a:t>CRITICAL for brain injury patients!</a:t>
                      </a:r>
                      <a:endParaRPr lang="en-US" sz="100" b="0" dirty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3619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D7CD06-50D3-0546-A943-F78C58D3B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820436"/>
              </p:ext>
            </p:extLst>
          </p:nvPr>
        </p:nvGraphicFramePr>
        <p:xfrm>
          <a:off x="672354" y="999484"/>
          <a:ext cx="7683469" cy="21989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6887">
                  <a:extLst>
                    <a:ext uri="{9D8B030D-6E8A-4147-A177-3AD203B41FA5}">
                      <a16:colId xmlns:a16="http://schemas.microsoft.com/office/drawing/2014/main" val="1737891722"/>
                    </a:ext>
                  </a:extLst>
                </a:gridCol>
                <a:gridCol w="948018">
                  <a:extLst>
                    <a:ext uri="{9D8B030D-6E8A-4147-A177-3AD203B41FA5}">
                      <a16:colId xmlns:a16="http://schemas.microsoft.com/office/drawing/2014/main" val="19852780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047153526"/>
                    </a:ext>
                  </a:extLst>
                </a:gridCol>
                <a:gridCol w="3138364">
                  <a:extLst>
                    <a:ext uri="{9D8B030D-6E8A-4147-A177-3AD203B41FA5}">
                      <a16:colId xmlns:a16="http://schemas.microsoft.com/office/drawing/2014/main" val="4233828276"/>
                    </a:ext>
                  </a:extLst>
                </a:gridCol>
              </a:tblGrid>
              <a:tr h="32381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82128" marR="91253" marT="57033" marB="570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Levels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91253" marR="91253" marT="57033" marB="57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Values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91253" marR="91253" marT="57033" marB="57033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Explanation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91253" marR="91253" marT="57033" marB="5703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275969"/>
                  </a:ext>
                </a:extLst>
              </a:tr>
              <a:tr h="185693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 err="1">
                          <a:effectLst/>
                        </a:rPr>
                        <a:t>inspiratory_pressure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2128" marR="91253" marT="57033" marB="570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3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91253" marR="91253" marT="57033" marB="57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8, 14, 20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91253" marR="91253" marT="57033" marB="57033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How hard ventilator pushes (cmH2O)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8 = Gentle breath (small volume)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14 = Moderate breath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20 = Strong breath (large volume)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Higher pressure = More air, but risk of lung damage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91253" marR="82128" marT="57033" marB="5703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772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21EAB3-3987-2885-8F3C-39035EE800B6}"/>
              </a:ext>
            </a:extLst>
          </p:cNvPr>
          <p:cNvSpPr txBox="1"/>
          <p:nvPr/>
        </p:nvSpPr>
        <p:spPr>
          <a:xfrm>
            <a:off x="592108" y="3340670"/>
            <a:ext cx="652810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set: </a:t>
            </a:r>
            <a:r>
              <a:rPr lang="en-IN" sz="1400" dirty="0" err="1"/>
              <a:t>inspiratory_pressure</a:t>
            </a:r>
            <a:r>
              <a:rPr lang="en-IN" sz="1400" dirty="0"/>
              <a:t> = 14 cmH2O, Machine pushes at exactly 14 pressure</a:t>
            </a:r>
          </a:p>
          <a:p>
            <a:r>
              <a:rPr lang="en-IN" sz="1400" dirty="0"/>
              <a:t>Volume varies based on lung stiffness</a:t>
            </a:r>
          </a:p>
          <a:p>
            <a:r>
              <a:rPr lang="en-IN" sz="1400" dirty="0"/>
              <a:t>Stiff lungs : Less volume</a:t>
            </a:r>
          </a:p>
          <a:p>
            <a:r>
              <a:rPr lang="en-IN" sz="1400" dirty="0"/>
              <a:t>Flexible lungs : More volume</a:t>
            </a:r>
          </a:p>
        </p:txBody>
      </p:sp>
    </p:spTree>
    <p:extLst>
      <p:ext uri="{BB962C8B-B14F-4D97-AF65-F5344CB8AC3E}">
        <p14:creationId xmlns:p14="http://schemas.microsoft.com/office/powerpoint/2010/main" val="111223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6C48A-036E-1D6F-FF64-01D1F2898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DFE2A-A2FB-FCB8-B23A-2F4F6614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109" y="270930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Volume Control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070F9-3D63-BAEF-7836-8EA9556E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4085C-BB9D-1D29-BDF9-44F412DA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13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FD86309-6DFE-9128-CDD4-6CC78A6171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1083683589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57129641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1535008734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41383656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Levels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Explanation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803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PC, VC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>
                          <a:effectLst/>
                          <a:latin typeface="quote-cjk-patch"/>
                        </a:rPr>
                        <a:t>How breath is delivered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= Pressure Control (set pressure, volume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VC = Volume Control (set volume, pressure varies)</a:t>
                      </a:r>
                      <a:br>
                        <a:rPr lang="en-US" sz="100" b="0">
                          <a:effectLst/>
                          <a:latin typeface="quote-cjk-patch"/>
                        </a:rPr>
                      </a:br>
                      <a:r>
                        <a:rPr lang="en-US" sz="100" b="0">
                          <a:effectLst/>
                          <a:latin typeface="quote-cjk-patch"/>
                        </a:rPr>
                        <a:t>• PC is gentler on injured lungs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02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sub_mode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CMV, AC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00" b="1" dirty="0">
                          <a:effectLst/>
                          <a:latin typeface="quote-cjk-patch"/>
                        </a:rPr>
                        <a:t>Who triggers the breath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CMV = Machine gives ALL breaths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 AC = Patient triggers, machine assists</a:t>
                      </a:r>
                      <a:br>
                        <a:rPr lang="en-US" sz="100" b="0" dirty="0">
                          <a:effectLst/>
                          <a:latin typeface="quote-cjk-patch"/>
                        </a:rPr>
                      </a:br>
                      <a:r>
                        <a:rPr lang="en-US" sz="100" b="0" dirty="0">
                          <a:effectLst/>
                          <a:latin typeface="quote-cjk-patch"/>
                        </a:rPr>
                        <a:t>• </a:t>
                      </a:r>
                      <a:r>
                        <a:rPr lang="en-US" sz="100" b="1" dirty="0">
                          <a:effectLst/>
                          <a:latin typeface="quote-cjk-patch"/>
                        </a:rPr>
                        <a:t>CRITICAL for brain injury patients!</a:t>
                      </a:r>
                      <a:endParaRPr lang="en-US" sz="100" b="0" dirty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361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CA9AD-FB7F-0D37-B8EF-EA93B1F97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596045"/>
              </p:ext>
            </p:extLst>
          </p:nvPr>
        </p:nvGraphicFramePr>
        <p:xfrm>
          <a:off x="672354" y="764466"/>
          <a:ext cx="7664821" cy="30421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79433">
                  <a:extLst>
                    <a:ext uri="{9D8B030D-6E8A-4147-A177-3AD203B41FA5}">
                      <a16:colId xmlns:a16="http://schemas.microsoft.com/office/drawing/2014/main" val="1046283244"/>
                    </a:ext>
                  </a:extLst>
                </a:gridCol>
                <a:gridCol w="1118005">
                  <a:extLst>
                    <a:ext uri="{9D8B030D-6E8A-4147-A177-3AD203B41FA5}">
                      <a16:colId xmlns:a16="http://schemas.microsoft.com/office/drawing/2014/main" val="38020651"/>
                    </a:ext>
                  </a:extLst>
                </a:gridCol>
                <a:gridCol w="1523188">
                  <a:extLst>
                    <a:ext uri="{9D8B030D-6E8A-4147-A177-3AD203B41FA5}">
                      <a16:colId xmlns:a16="http://schemas.microsoft.com/office/drawing/2014/main" val="2739473601"/>
                    </a:ext>
                  </a:extLst>
                </a:gridCol>
                <a:gridCol w="3744195">
                  <a:extLst>
                    <a:ext uri="{9D8B030D-6E8A-4147-A177-3AD203B41FA5}">
                      <a16:colId xmlns:a16="http://schemas.microsoft.com/office/drawing/2014/main" val="1360720619"/>
                    </a:ext>
                  </a:extLst>
                </a:gridCol>
              </a:tblGrid>
              <a:tr h="25734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44826" marR="49806" marT="31129" marB="3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Levels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Values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Explanation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297797"/>
                  </a:ext>
                </a:extLst>
              </a:tr>
              <a:tr h="111337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flow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4826" marR="49806" marT="31129" marB="3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3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40, 50, 60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How fast air is delivered (L/min)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40 = Slow, gentle delivery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50 = Medium speed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60 = Fast delivery</a:t>
                      </a:r>
                      <a:br>
                        <a:rPr lang="en-US" sz="1400" b="0">
                          <a:effectLst/>
                        </a:rPr>
                      </a:br>
                      <a:r>
                        <a:rPr lang="en-US" sz="1400" b="0">
                          <a:effectLst/>
                        </a:rPr>
                        <a:t>• Higher flow = Shorter inspiration time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49806" marR="44826" marT="31129" marB="311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90305078"/>
                  </a:ext>
                </a:extLst>
              </a:tr>
              <a:tr h="132738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tidal_volume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4826" marR="49806" marT="31129" marB="31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3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300, 500, 700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49806" marR="49806" marT="31129" marB="31129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Amount of air per breath (mL)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300 = Small breath (like shallow breathing)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500 = Normal breath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700 = Large breath (like deep breathing)</a:t>
                      </a:r>
                      <a:br>
                        <a:rPr lang="en-US" sz="1400" b="0" dirty="0">
                          <a:effectLst/>
                        </a:rPr>
                      </a:br>
                      <a:r>
                        <a:rPr lang="en-US" sz="1400" b="0" dirty="0">
                          <a:effectLst/>
                        </a:rPr>
                        <a:t>• Higher volume = More oxygen, but risk of overstretching lungs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49806" marR="44826" marT="31129" marB="311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7151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C8BED6E-F54B-0F15-EA07-9D7CD64BA932}"/>
              </a:ext>
            </a:extLst>
          </p:cNvPr>
          <p:cNvSpPr txBox="1"/>
          <p:nvPr/>
        </p:nvSpPr>
        <p:spPr>
          <a:xfrm>
            <a:off x="672354" y="3901980"/>
            <a:ext cx="76648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set: </a:t>
            </a:r>
            <a:r>
              <a:rPr lang="en-IN" sz="1400" dirty="0" err="1"/>
              <a:t>tidal_volume</a:t>
            </a:r>
            <a:r>
              <a:rPr lang="en-IN" sz="1400" dirty="0"/>
              <a:t> = 500 mL, Machine delivers exactly 500 mL each breath</a:t>
            </a:r>
          </a:p>
          <a:p>
            <a:r>
              <a:rPr lang="en-IN" sz="1400" dirty="0"/>
              <a:t>Pressure varies based on lung stiffness</a:t>
            </a:r>
          </a:p>
          <a:p>
            <a:r>
              <a:rPr lang="en-IN" sz="1400" dirty="0"/>
              <a:t>Stiff lungs : Higher pressure needed</a:t>
            </a:r>
          </a:p>
          <a:p>
            <a:r>
              <a:rPr lang="en-IN" sz="1400" dirty="0"/>
              <a:t>Flexible lungs : Lower pressure needed</a:t>
            </a:r>
          </a:p>
        </p:txBody>
      </p:sp>
    </p:spTree>
    <p:extLst>
      <p:ext uri="{BB962C8B-B14F-4D97-AF65-F5344CB8AC3E}">
        <p14:creationId xmlns:p14="http://schemas.microsoft.com/office/powerpoint/2010/main" val="2637871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81A6-50C3-53EE-4C48-4E95B8E2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6B40B-7BDD-6509-2D5F-C085AF5D0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3" y="89395"/>
            <a:ext cx="8855765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What We Measure (Output Parameters)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238EA-7F04-F917-6479-7A5CC6D8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B3E52-C898-2C1B-025B-897F5228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14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A8B37D-C32F-30C5-F1ED-0312FC4DB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786710"/>
              </p:ext>
            </p:extLst>
          </p:nvPr>
        </p:nvGraphicFramePr>
        <p:xfrm>
          <a:off x="494179" y="1041400"/>
          <a:ext cx="7886701" cy="30607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214">
                  <a:extLst>
                    <a:ext uri="{9D8B030D-6E8A-4147-A177-3AD203B41FA5}">
                      <a16:colId xmlns:a16="http://schemas.microsoft.com/office/drawing/2014/main" val="2666614156"/>
                    </a:ext>
                  </a:extLst>
                </a:gridCol>
                <a:gridCol w="1993829">
                  <a:extLst>
                    <a:ext uri="{9D8B030D-6E8A-4147-A177-3AD203B41FA5}">
                      <a16:colId xmlns:a16="http://schemas.microsoft.com/office/drawing/2014/main" val="2910294475"/>
                    </a:ext>
                  </a:extLst>
                </a:gridCol>
                <a:gridCol w="1993829">
                  <a:extLst>
                    <a:ext uri="{9D8B030D-6E8A-4147-A177-3AD203B41FA5}">
                      <a16:colId xmlns:a16="http://schemas.microsoft.com/office/drawing/2014/main" val="4206675325"/>
                    </a:ext>
                  </a:extLst>
                </a:gridCol>
                <a:gridCol w="1993829">
                  <a:extLst>
                    <a:ext uri="{9D8B030D-6E8A-4147-A177-3AD203B41FA5}">
                      <a16:colId xmlns:a16="http://schemas.microsoft.com/office/drawing/2014/main" val="3771212318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Parameter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What it tells us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Normal Range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Dangerous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82025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Heart Rate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How hard heart works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60-100 bpm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&gt;120 bpm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1508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PaO2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Oxygen in blood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80-100 mmHg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&lt;60 mmHg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03308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PaCO2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CO2 in blood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35-45 mmHg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&gt;50 mmHg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47819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pH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Blood acidity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7.35-7.45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&lt;7.30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50910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SpO2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Oxygen saturation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95-100%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&lt;90%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72043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1">
                          <a:effectLst/>
                        </a:rPr>
                        <a:t>Respiratory Rate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Breaths per minute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>
                          <a:effectLst/>
                        </a:rPr>
                        <a:t>12-24</a:t>
                      </a:r>
                      <a:endParaRPr lang="en-IN" sz="18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800" b="0" dirty="0">
                          <a:effectLst/>
                        </a:rPr>
                        <a:t>&lt;8 or &gt;30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93594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0A82690-752E-C353-2E6F-F06306CF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471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28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FA50B9-F2B0-4148-C499-ACB57205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1CEB-EEAB-4D31-4476-C459C712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94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P1 Configuration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3E8D3-4B2C-FBE7-DCDB-0D0B1773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C37F6-5194-939E-5EA5-FC82D413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15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E4E7BCF-9FDA-1739-711A-B74F0B578C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80D9F5-A0A3-B40D-EE07-88B3242CC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52148"/>
              </p:ext>
            </p:extLst>
          </p:nvPr>
        </p:nvGraphicFramePr>
        <p:xfrm>
          <a:off x="369794" y="644976"/>
          <a:ext cx="6461312" cy="335157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0656">
                  <a:extLst>
                    <a:ext uri="{9D8B030D-6E8A-4147-A177-3AD203B41FA5}">
                      <a16:colId xmlns:a16="http://schemas.microsoft.com/office/drawing/2014/main" val="2368244232"/>
                    </a:ext>
                  </a:extLst>
                </a:gridCol>
                <a:gridCol w="3230656">
                  <a:extLst>
                    <a:ext uri="{9D8B030D-6E8A-4147-A177-3AD203B41FA5}">
                      <a16:colId xmlns:a16="http://schemas.microsoft.com/office/drawing/2014/main" val="180746766"/>
                    </a:ext>
                  </a:extLst>
                </a:gridCol>
              </a:tblGrid>
              <a:tr h="27191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Parameter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Value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4461" marR="84461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178981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Patient ID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P1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14552809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Brain Injury Severity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0.3 (Mild)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27476904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ARDS Severity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 (Mild)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66180251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Ventilation 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Pressure Control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98108050"/>
                  </a:ext>
                </a:extLst>
              </a:tr>
              <a:tr h="3502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Sub 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Continuous Mandatory Ventilation (CMV)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5057613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FiO2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 (30% oxygen)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6303052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PEEP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6 cmH2O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01762209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Inspiratory Pressure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8 cmH2O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1264433"/>
                  </a:ext>
                </a:extLst>
              </a:tr>
              <a:tr h="27191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Respiration Rate (set)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6015" marR="84461" marT="52788" marB="52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</a:rPr>
                        <a:t>12 breaths/min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4461" marR="76015" marT="52788" marB="527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3500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61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05EA02-7BCD-C038-D62D-B29BD7F4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113C-FA71-604A-D8C3-AEE90A0D4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94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Results over time for P1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1805D-DD41-395D-FE38-9A21A34E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2C5E0-16EA-E13B-6F54-34C705CD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16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4B3B179-7EB1-233B-5090-6AB28FE9A5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046E9E-2A97-F8F1-13A1-AE764886B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356380"/>
              </p:ext>
            </p:extLst>
          </p:nvPr>
        </p:nvGraphicFramePr>
        <p:xfrm>
          <a:off x="430306" y="648153"/>
          <a:ext cx="8222875" cy="3332138"/>
        </p:xfrm>
        <a:graphic>
          <a:graphicData uri="http://schemas.openxmlformats.org/drawingml/2006/table">
            <a:tbl>
              <a:tblPr/>
              <a:tblGrid>
                <a:gridCol w="877379">
                  <a:extLst>
                    <a:ext uri="{9D8B030D-6E8A-4147-A177-3AD203B41FA5}">
                      <a16:colId xmlns:a16="http://schemas.microsoft.com/office/drawing/2014/main" val="2650528007"/>
                    </a:ext>
                  </a:extLst>
                </a:gridCol>
                <a:gridCol w="918187">
                  <a:extLst>
                    <a:ext uri="{9D8B030D-6E8A-4147-A177-3AD203B41FA5}">
                      <a16:colId xmlns:a16="http://schemas.microsoft.com/office/drawing/2014/main" val="2421624919"/>
                    </a:ext>
                  </a:extLst>
                </a:gridCol>
                <a:gridCol w="918187">
                  <a:extLst>
                    <a:ext uri="{9D8B030D-6E8A-4147-A177-3AD203B41FA5}">
                      <a16:colId xmlns:a16="http://schemas.microsoft.com/office/drawing/2014/main" val="3839075415"/>
                    </a:ext>
                  </a:extLst>
                </a:gridCol>
                <a:gridCol w="918187">
                  <a:extLst>
                    <a:ext uri="{9D8B030D-6E8A-4147-A177-3AD203B41FA5}">
                      <a16:colId xmlns:a16="http://schemas.microsoft.com/office/drawing/2014/main" val="3471604013"/>
                    </a:ext>
                  </a:extLst>
                </a:gridCol>
                <a:gridCol w="918187">
                  <a:extLst>
                    <a:ext uri="{9D8B030D-6E8A-4147-A177-3AD203B41FA5}">
                      <a16:colId xmlns:a16="http://schemas.microsoft.com/office/drawing/2014/main" val="3817743355"/>
                    </a:ext>
                  </a:extLst>
                </a:gridCol>
                <a:gridCol w="918187">
                  <a:extLst>
                    <a:ext uri="{9D8B030D-6E8A-4147-A177-3AD203B41FA5}">
                      <a16:colId xmlns:a16="http://schemas.microsoft.com/office/drawing/2014/main" val="3835080731"/>
                    </a:ext>
                  </a:extLst>
                </a:gridCol>
                <a:gridCol w="750951">
                  <a:extLst>
                    <a:ext uri="{9D8B030D-6E8A-4147-A177-3AD203B41FA5}">
                      <a16:colId xmlns:a16="http://schemas.microsoft.com/office/drawing/2014/main" val="4214069241"/>
                    </a:ext>
                  </a:extLst>
                </a:gridCol>
                <a:gridCol w="1085423">
                  <a:extLst>
                    <a:ext uri="{9D8B030D-6E8A-4147-A177-3AD203B41FA5}">
                      <a16:colId xmlns:a16="http://schemas.microsoft.com/office/drawing/2014/main" val="663105944"/>
                    </a:ext>
                  </a:extLst>
                </a:gridCol>
                <a:gridCol w="918187">
                  <a:extLst>
                    <a:ext uri="{9D8B030D-6E8A-4147-A177-3AD203B41FA5}">
                      <a16:colId xmlns:a16="http://schemas.microsoft.com/office/drawing/2014/main" val="3113550898"/>
                    </a:ext>
                  </a:extLst>
                </a:gridCol>
              </a:tblGrid>
              <a:tr h="78624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Time</a:t>
                      </a:r>
                    </a:p>
                  </a:txBody>
                  <a:tcPr marL="84492" marR="93879" marT="58675" marB="58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Heart Rate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MAP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SpO2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PaO2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PaCO2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pH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Respiratory Rate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  <a:latin typeface="quote-cjk-patch"/>
                        </a:rPr>
                        <a:t>Status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128479"/>
                  </a:ext>
                </a:extLst>
              </a:tr>
              <a:tr h="78624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  <a:latin typeface="quote-cjk-patch"/>
                        </a:rPr>
                        <a:t>0h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92" marR="93879" marT="58675" marB="58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72 bpm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  <a:latin typeface="quote-cjk-patch"/>
                        </a:rPr>
                        <a:t>95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97.4%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89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39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7.42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12.0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  <a:latin typeface="quote-cjk-patch"/>
                        </a:rPr>
                        <a:t>Normal</a:t>
                      </a:r>
                    </a:p>
                  </a:txBody>
                  <a:tcPr marL="93879" marR="84492" marT="58675" marB="5867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399540"/>
                  </a:ext>
                </a:extLst>
              </a:tr>
              <a:tr h="5632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  <a:latin typeface="quote-cjk-patch"/>
                        </a:rPr>
                        <a:t>2h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92" marR="93879" marT="58675" marB="58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177 bpm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97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14.0%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22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162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6.86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12.5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  <a:latin typeface="quote-cjk-patch"/>
                        </a:rPr>
                        <a:t>Critical</a:t>
                      </a:r>
                    </a:p>
                  </a:txBody>
                  <a:tcPr marL="93879" marR="84492" marT="58675" marB="5867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253534"/>
                  </a:ext>
                </a:extLst>
              </a:tr>
              <a:tr h="5632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  <a:latin typeface="quote-cjk-patch"/>
                        </a:rPr>
                        <a:t>4h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92" marR="93879" marT="58675" marB="58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177 bpm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97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14.0%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23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172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6.83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12.5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 dirty="0">
                          <a:effectLst/>
                          <a:latin typeface="quote-cjk-patch"/>
                        </a:rPr>
                        <a:t>Critical</a:t>
                      </a:r>
                    </a:p>
                  </a:txBody>
                  <a:tcPr marL="93879" marR="84492" marT="58675" marB="5867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317186"/>
                  </a:ext>
                </a:extLst>
              </a:tr>
              <a:tr h="5632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  <a:latin typeface="quote-cjk-patch"/>
                        </a:rPr>
                        <a:t>6h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84492" marR="93879" marT="58675" marB="586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177 bpm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96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14.2%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23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173 mmHg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6.83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  <a:latin typeface="quote-cjk-patch"/>
                        </a:rPr>
                        <a:t>12.5</a:t>
                      </a:r>
                    </a:p>
                  </a:txBody>
                  <a:tcPr marL="93879" marR="93879" marT="58675" marB="58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Critical</a:t>
                      </a:r>
                    </a:p>
                  </a:txBody>
                  <a:tcPr marL="84492" marR="84492" marT="42246" marB="42246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986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176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7EF2EB-834D-3E9E-0FE6-46B2BCF8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568E-7A7D-B5B9-9FE5-D8308230D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94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P6 Configuration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1AFE8-48DA-3734-DEA5-DDA5DAB06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0EEE3-6823-24CC-FBE3-B303EA0CE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17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7FBDD8A-BF1E-EC7E-5761-5031BC8505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E1154F-5C94-4888-3F2B-4B91EE254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846901"/>
              </p:ext>
            </p:extLst>
          </p:nvPr>
        </p:nvGraphicFramePr>
        <p:xfrm>
          <a:off x="927847" y="816089"/>
          <a:ext cx="6615954" cy="34315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7977">
                  <a:extLst>
                    <a:ext uri="{9D8B030D-6E8A-4147-A177-3AD203B41FA5}">
                      <a16:colId xmlns:a16="http://schemas.microsoft.com/office/drawing/2014/main" val="2087804793"/>
                    </a:ext>
                  </a:extLst>
                </a:gridCol>
                <a:gridCol w="3307977">
                  <a:extLst>
                    <a:ext uri="{9D8B030D-6E8A-4147-A177-3AD203B41FA5}">
                      <a16:colId xmlns:a16="http://schemas.microsoft.com/office/drawing/2014/main" val="431653139"/>
                    </a:ext>
                  </a:extLst>
                </a:gridCol>
              </a:tblGrid>
              <a:tr h="2726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Parameter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Value</a:t>
                      </a:r>
                      <a:endParaRPr lang="en-IN" sz="1400" b="1" dirty="0">
                        <a:effectLst/>
                        <a:latin typeface="quote-cjk-patch"/>
                      </a:endParaRPr>
                    </a:p>
                  </a:txBody>
                  <a:tcPr marL="75212" marR="75212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167781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Patient ID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P6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30712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Brain Injury Severity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 (Mild)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20608604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 dirty="0">
                          <a:effectLst/>
                        </a:rPr>
                        <a:t>ARDS Severity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 (Mild)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95630849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Ventilation 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Pressure Control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98823690"/>
                  </a:ext>
                </a:extLst>
              </a:tr>
              <a:tr h="40493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Sub Mode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</a:rPr>
                        <a:t>Assisted Control (AC)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14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6231985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FiO2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0.3 (30% oxygen)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51097172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PEEP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6 cmH2O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1862839"/>
                  </a:ext>
                </a:extLst>
              </a:tr>
              <a:tr h="2726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Inspiratory Pressure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0">
                          <a:effectLst/>
                        </a:rPr>
                        <a:t>8 cmH2O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05320922"/>
                  </a:ext>
                </a:extLst>
              </a:tr>
              <a:tr h="4512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400" b="1">
                          <a:effectLst/>
                        </a:rPr>
                        <a:t>Respiration Rate (set)</a:t>
                      </a:r>
                      <a:endParaRPr lang="en-IN" sz="1400" b="0">
                        <a:effectLst/>
                        <a:latin typeface="quote-cjk-patch"/>
                      </a:endParaRPr>
                    </a:p>
                  </a:txBody>
                  <a:tcPr marL="67691" marR="75212" marT="47007" marB="470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24 breaths/min (backup rate)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75212" marR="67691" marT="47007" marB="47007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01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413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9B835F-A089-DE57-025E-55F4D37DF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EF90-C537-E93A-B377-F2291815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94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IN" sz="2700" dirty="0">
                <a:solidFill>
                  <a:srgbClr val="0070C0"/>
                </a:solidFill>
              </a:rPr>
              <a:t>Results over time for P6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26BB9-7066-ED04-395D-5D30232F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AEB87-F7FB-9D22-A1C9-3E0E5A68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18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4E6229F-61CD-7EEE-3BDE-642277110A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000F44-86EC-7CD2-C433-DD40D8546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364887"/>
              </p:ext>
            </p:extLst>
          </p:nvPr>
        </p:nvGraphicFramePr>
        <p:xfrm>
          <a:off x="531159" y="882289"/>
          <a:ext cx="7812738" cy="33779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33618">
                  <a:extLst>
                    <a:ext uri="{9D8B030D-6E8A-4147-A177-3AD203B41FA5}">
                      <a16:colId xmlns:a16="http://schemas.microsoft.com/office/drawing/2014/main" val="328201030"/>
                    </a:ext>
                  </a:extLst>
                </a:gridCol>
                <a:gridCol w="872390">
                  <a:extLst>
                    <a:ext uri="{9D8B030D-6E8A-4147-A177-3AD203B41FA5}">
                      <a16:colId xmlns:a16="http://schemas.microsoft.com/office/drawing/2014/main" val="3752839542"/>
                    </a:ext>
                  </a:extLst>
                </a:gridCol>
                <a:gridCol w="872390">
                  <a:extLst>
                    <a:ext uri="{9D8B030D-6E8A-4147-A177-3AD203B41FA5}">
                      <a16:colId xmlns:a16="http://schemas.microsoft.com/office/drawing/2014/main" val="1694477214"/>
                    </a:ext>
                  </a:extLst>
                </a:gridCol>
                <a:gridCol w="872390">
                  <a:extLst>
                    <a:ext uri="{9D8B030D-6E8A-4147-A177-3AD203B41FA5}">
                      <a16:colId xmlns:a16="http://schemas.microsoft.com/office/drawing/2014/main" val="2809367491"/>
                    </a:ext>
                  </a:extLst>
                </a:gridCol>
                <a:gridCol w="872390">
                  <a:extLst>
                    <a:ext uri="{9D8B030D-6E8A-4147-A177-3AD203B41FA5}">
                      <a16:colId xmlns:a16="http://schemas.microsoft.com/office/drawing/2014/main" val="2794711140"/>
                    </a:ext>
                  </a:extLst>
                </a:gridCol>
                <a:gridCol w="872390">
                  <a:extLst>
                    <a:ext uri="{9D8B030D-6E8A-4147-A177-3AD203B41FA5}">
                      <a16:colId xmlns:a16="http://schemas.microsoft.com/office/drawing/2014/main" val="3515862019"/>
                    </a:ext>
                  </a:extLst>
                </a:gridCol>
                <a:gridCol w="640455">
                  <a:extLst>
                    <a:ext uri="{9D8B030D-6E8A-4147-A177-3AD203B41FA5}">
                      <a16:colId xmlns:a16="http://schemas.microsoft.com/office/drawing/2014/main" val="1032885613"/>
                    </a:ext>
                  </a:extLst>
                </a:gridCol>
                <a:gridCol w="1104325">
                  <a:extLst>
                    <a:ext uri="{9D8B030D-6E8A-4147-A177-3AD203B41FA5}">
                      <a16:colId xmlns:a16="http://schemas.microsoft.com/office/drawing/2014/main" val="3228163703"/>
                    </a:ext>
                  </a:extLst>
                </a:gridCol>
                <a:gridCol w="872390">
                  <a:extLst>
                    <a:ext uri="{9D8B030D-6E8A-4147-A177-3AD203B41FA5}">
                      <a16:colId xmlns:a16="http://schemas.microsoft.com/office/drawing/2014/main" val="971148870"/>
                    </a:ext>
                  </a:extLst>
                </a:gridCol>
              </a:tblGrid>
              <a:tr h="6174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Time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66352" marR="73725" marT="46078" marB="46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Heart Rate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MAP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SpO2</a:t>
                      </a:r>
                      <a:endParaRPr lang="en-IN" sz="1300" b="1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PaO2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PaCO2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pH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solidFill>
                            <a:srgbClr val="FF0000"/>
                          </a:solidFill>
                          <a:effectLst/>
                        </a:rPr>
                        <a:t>Respiratory Rate</a:t>
                      </a:r>
                      <a:endParaRPr lang="en-IN" sz="1300" b="1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effectLst/>
                        </a:rPr>
                        <a:t>Status</a:t>
                      </a:r>
                      <a:endParaRPr lang="en-IN" sz="1300" b="1" dirty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874265"/>
                  </a:ext>
                </a:extLst>
              </a:tr>
              <a:tr h="6174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0h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66352" marR="73725" marT="46078" marB="46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72 bpm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95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97.4%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89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39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7.42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solidFill>
                            <a:srgbClr val="FF0000"/>
                          </a:solidFill>
                          <a:effectLst/>
                        </a:rPr>
                        <a:t>12.0</a:t>
                      </a:r>
                      <a:endParaRPr lang="en-IN" sz="1300" b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 dirty="0">
                          <a:effectLst/>
                        </a:rPr>
                        <a:t>Normal</a:t>
                      </a:r>
                      <a:endParaRPr lang="en-IN" sz="1300" b="0" dirty="0">
                        <a:effectLst/>
                        <a:latin typeface="quote-cjk-patch"/>
                      </a:endParaRPr>
                    </a:p>
                  </a:txBody>
                  <a:tcPr marL="73725" marR="66352" marT="46078" marB="4607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23428285"/>
                  </a:ext>
                </a:extLst>
              </a:tr>
              <a:tr h="7925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2h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66352" marR="73725" marT="46078" marB="46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177 bpm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97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14.2%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22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161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6.86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solidFill>
                            <a:srgbClr val="FF0000"/>
                          </a:solidFill>
                          <a:effectLst/>
                        </a:rPr>
                        <a:t>0.0</a:t>
                      </a:r>
                      <a:endParaRPr lang="en-IN" sz="13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 dirty="0">
                          <a:effectLst/>
                        </a:rPr>
                        <a:t> Critical</a:t>
                      </a:r>
                      <a:endParaRPr lang="en-IN" sz="1300" b="0" dirty="0">
                        <a:effectLst/>
                        <a:latin typeface="quote-cjk-patch"/>
                      </a:endParaRPr>
                    </a:p>
                  </a:txBody>
                  <a:tcPr marL="73725" marR="66352" marT="46078" marB="4607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69387057"/>
                  </a:ext>
                </a:extLst>
              </a:tr>
              <a:tr h="7925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4h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66352" marR="73725" marT="46078" marB="46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177 bpm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97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14.1%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23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171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6.84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>
                          <a:solidFill>
                            <a:srgbClr val="FF0000"/>
                          </a:solidFill>
                          <a:effectLst/>
                        </a:rPr>
                        <a:t>0.0</a:t>
                      </a:r>
                      <a:endParaRPr lang="en-IN" sz="1300" b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 dirty="0">
                          <a:effectLst/>
                          <a:latin typeface="quote-cjk-patch"/>
                        </a:rPr>
                        <a:t>Critical</a:t>
                      </a:r>
                    </a:p>
                  </a:txBody>
                  <a:tcPr marL="73725" marR="66352" marT="46078" marB="4607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78526331"/>
                  </a:ext>
                </a:extLst>
              </a:tr>
              <a:tr h="44234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>
                          <a:effectLst/>
                        </a:rPr>
                        <a:t>6h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66352" marR="73725" marT="46078" marB="46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177 bpm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96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14.4%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24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172 mmHg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0">
                          <a:effectLst/>
                        </a:rPr>
                        <a:t>6.83</a:t>
                      </a:r>
                      <a:endParaRPr lang="en-IN" sz="1300" b="0"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300" b="1" dirty="0">
                          <a:solidFill>
                            <a:srgbClr val="FF0000"/>
                          </a:solidFill>
                          <a:effectLst/>
                        </a:rPr>
                        <a:t>0.0</a:t>
                      </a:r>
                      <a:endParaRPr lang="en-IN" sz="13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3725" marR="73725" marT="46078" marB="4607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Critical</a:t>
                      </a:r>
                    </a:p>
                  </a:txBody>
                  <a:tcPr marL="66352" marR="66352" marT="33176" marB="33176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59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867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95B110-CD25-BB2F-7AC5-DCB621F5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7C7F-0A29-E010-BCBD-07C71389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94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IN" sz="1600" dirty="0">
                <a:solidFill>
                  <a:srgbClr val="0070C0"/>
                </a:solidFill>
              </a:rPr>
              <a:t>Key Observations for P1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CCDB80-1556-3199-45E2-E3C08DA2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F5F79-A14A-6734-5D8D-074EEC7A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19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DACED7F-95D5-23D3-B246-93BE3AA4BC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F8A3D8-E829-2CB4-5F0D-CCFE0B909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185211"/>
              </p:ext>
            </p:extLst>
          </p:nvPr>
        </p:nvGraphicFramePr>
        <p:xfrm>
          <a:off x="490817" y="431423"/>
          <a:ext cx="7664824" cy="2032555"/>
        </p:xfrm>
        <a:graphic>
          <a:graphicData uri="http://schemas.openxmlformats.org/drawingml/2006/table">
            <a:tbl>
              <a:tblPr/>
              <a:tblGrid>
                <a:gridCol w="2310663">
                  <a:extLst>
                    <a:ext uri="{9D8B030D-6E8A-4147-A177-3AD203B41FA5}">
                      <a16:colId xmlns:a16="http://schemas.microsoft.com/office/drawing/2014/main" val="2404932685"/>
                    </a:ext>
                  </a:extLst>
                </a:gridCol>
                <a:gridCol w="1669096">
                  <a:extLst>
                    <a:ext uri="{9D8B030D-6E8A-4147-A177-3AD203B41FA5}">
                      <a16:colId xmlns:a16="http://schemas.microsoft.com/office/drawing/2014/main" val="1676212644"/>
                    </a:ext>
                  </a:extLst>
                </a:gridCol>
                <a:gridCol w="3685065">
                  <a:extLst>
                    <a:ext uri="{9D8B030D-6E8A-4147-A177-3AD203B41FA5}">
                      <a16:colId xmlns:a16="http://schemas.microsoft.com/office/drawing/2014/main" val="2300924501"/>
                    </a:ext>
                  </a:extLst>
                </a:gridCol>
              </a:tblGrid>
              <a:tr h="23004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quote-cjk-patch"/>
                        </a:rPr>
                        <a:t>Observation</a:t>
                      </a: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quote-cjk-patch"/>
                        </a:rPr>
                        <a:t>Meaning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12771"/>
                  </a:ext>
                </a:extLst>
              </a:tr>
              <a:tr h="18839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  <a:latin typeface="quote-cjk-patch"/>
                        </a:rPr>
                        <a:t>Heart Rate Change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72 → 177 bpm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100" b="0">
                          <a:effectLst/>
                          <a:latin typeface="quote-cjk-patch"/>
                        </a:rPr>
                        <a:t>Body trying to compensate for low oxygen</a:t>
                      </a:r>
                    </a:p>
                  </a:txBody>
                  <a:tcPr marL="57997" marR="521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873046"/>
                  </a:ext>
                </a:extLst>
              </a:tr>
              <a:tr h="18839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  <a:latin typeface="quote-cjk-patch"/>
                        </a:rPr>
                        <a:t>pH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  <a:latin typeface="quote-cjk-patch"/>
                        </a:rPr>
                        <a:t>7.42 → 6.83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Severe acidosis (life-threatening)</a:t>
                      </a:r>
                    </a:p>
                  </a:txBody>
                  <a:tcPr marL="57997" marR="521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887799"/>
                  </a:ext>
                </a:extLst>
              </a:tr>
              <a:tr h="23024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  <a:latin typeface="quote-cjk-patch"/>
                        </a:rPr>
                        <a:t>PaO2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89 → 23 mmHg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Severe hypoxemia (ARDS worsening)</a:t>
                      </a:r>
                    </a:p>
                  </a:txBody>
                  <a:tcPr marL="57997" marR="521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865916"/>
                  </a:ext>
                </a:extLst>
              </a:tr>
              <a:tr h="23024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  <a:latin typeface="quote-cjk-patch"/>
                        </a:rPr>
                        <a:t>PaCO2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  <a:latin typeface="quote-cjk-patch"/>
                        </a:rPr>
                        <a:t>39 → 173 mmHg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100" b="0">
                          <a:effectLst/>
                          <a:latin typeface="quote-cjk-patch"/>
                        </a:rPr>
                        <a:t>Severe hypercapnia (CO2 not being removed)</a:t>
                      </a:r>
                    </a:p>
                  </a:txBody>
                  <a:tcPr marL="57997" marR="521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117201"/>
                  </a:ext>
                </a:extLst>
              </a:tr>
              <a:tr h="18839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  <a:latin typeface="quote-cjk-patch"/>
                        </a:rPr>
                        <a:t>Respiratory Rate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  <a:latin typeface="quote-cjk-patch"/>
                        </a:rPr>
                        <a:t>12.5 (maintained)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Machine kept breathing!</a:t>
                      </a:r>
                    </a:p>
                  </a:txBody>
                  <a:tcPr marL="57997" marR="521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606349"/>
                  </a:ext>
                </a:extLst>
              </a:tr>
              <a:tr h="18839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  <a:latin typeface="quote-cjk-patch"/>
                        </a:rPr>
                        <a:t>P/F Ratio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52197" marR="57997" marT="36248" marB="362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297 → 77</a:t>
                      </a:r>
                    </a:p>
                  </a:txBody>
                  <a:tcPr marL="57997" marR="57997" marT="36248" marB="362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  <a:latin typeface="quote-cjk-patch"/>
                        </a:rPr>
                        <a:t>Mild ARDS → Severe ARDS</a:t>
                      </a:r>
                    </a:p>
                  </a:txBody>
                  <a:tcPr marL="57997" marR="52197" marT="36248" marB="3624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93655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C288F6-AEDC-902E-EE44-6BCA43346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97357"/>
              </p:ext>
            </p:extLst>
          </p:nvPr>
        </p:nvGraphicFramePr>
        <p:xfrm>
          <a:off x="490818" y="2874179"/>
          <a:ext cx="7664823" cy="220472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9617">
                  <a:extLst>
                    <a:ext uri="{9D8B030D-6E8A-4147-A177-3AD203B41FA5}">
                      <a16:colId xmlns:a16="http://schemas.microsoft.com/office/drawing/2014/main" val="2727995282"/>
                    </a:ext>
                  </a:extLst>
                </a:gridCol>
                <a:gridCol w="1674159">
                  <a:extLst>
                    <a:ext uri="{9D8B030D-6E8A-4147-A177-3AD203B41FA5}">
                      <a16:colId xmlns:a16="http://schemas.microsoft.com/office/drawing/2014/main" val="3168614837"/>
                    </a:ext>
                  </a:extLst>
                </a:gridCol>
                <a:gridCol w="3671047">
                  <a:extLst>
                    <a:ext uri="{9D8B030D-6E8A-4147-A177-3AD203B41FA5}">
                      <a16:colId xmlns:a16="http://schemas.microsoft.com/office/drawing/2014/main" val="2560609047"/>
                    </a:ext>
                  </a:extLst>
                </a:gridCol>
              </a:tblGrid>
              <a:tr h="28948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Observation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Value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effectLst/>
                        </a:rPr>
                        <a:t>Meaning</a:t>
                      </a:r>
                      <a:endParaRPr lang="en-IN" sz="1100" b="1" dirty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485358"/>
                  </a:ext>
                </a:extLst>
              </a:tr>
              <a:tr h="289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</a:rPr>
                        <a:t>Heart Rate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</a:rPr>
                        <a:t>72 → 177 bpm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</a:rPr>
                        <a:t>Body trying to compensate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77674" marR="69907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30667747"/>
                  </a:ext>
                </a:extLst>
              </a:tr>
              <a:tr h="289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</a:rPr>
                        <a:t>pH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7.42 → 6.83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Severe acidosis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69907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46182054"/>
                  </a:ext>
                </a:extLst>
              </a:tr>
              <a:tr h="289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</a:rPr>
                        <a:t>PaO2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89 → 24 mmHg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Severe hypoxemia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69907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6664074"/>
                  </a:ext>
                </a:extLst>
              </a:tr>
              <a:tr h="289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</a:rPr>
                        <a:t>PaCO2 Change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39 → 172 mmHg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Severe hypercapnia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69907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46298925"/>
                  </a:ext>
                </a:extLst>
              </a:tr>
              <a:tr h="3069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  <a:effectLst/>
                        </a:rPr>
                        <a:t>Respiratory Rate</a:t>
                      </a:r>
                      <a:endParaRPr lang="en-IN" sz="11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  <a:effectLst/>
                        </a:rPr>
                        <a:t>12 → 0</a:t>
                      </a:r>
                      <a:endParaRPr lang="en-IN" sz="11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 dirty="0">
                          <a:solidFill>
                            <a:srgbClr val="FF0000"/>
                          </a:solidFill>
                          <a:effectLst/>
                        </a:rPr>
                        <a:t>PATIENT STOPPED BREATHING</a:t>
                      </a:r>
                      <a:endParaRPr lang="en-IN" sz="1100" b="0" dirty="0">
                        <a:solidFill>
                          <a:srgbClr val="FF0000"/>
                        </a:solidFill>
                        <a:effectLst/>
                        <a:latin typeface="quote-cjk-patch"/>
                      </a:endParaRPr>
                    </a:p>
                  </a:txBody>
                  <a:tcPr marL="77674" marR="69907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63410809"/>
                  </a:ext>
                </a:extLst>
              </a:tr>
              <a:tr h="28948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1">
                          <a:effectLst/>
                        </a:rPr>
                        <a:t>P/F Ratio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69907" marR="77674" marT="48546" marB="48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>
                          <a:effectLst/>
                        </a:rPr>
                        <a:t>297 → 80</a:t>
                      </a:r>
                      <a:endParaRPr lang="en-IN" sz="1100" b="0">
                        <a:effectLst/>
                        <a:latin typeface="quote-cjk-patch"/>
                      </a:endParaRPr>
                    </a:p>
                  </a:txBody>
                  <a:tcPr marL="77674" marR="77674" marT="48546" marB="4854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100" b="0" dirty="0">
                          <a:effectLst/>
                        </a:rPr>
                        <a:t>Mild ARDS → Severe ARDS</a:t>
                      </a:r>
                      <a:endParaRPr lang="en-IN" sz="1100" b="0" dirty="0">
                        <a:effectLst/>
                        <a:latin typeface="quote-cjk-patch"/>
                      </a:endParaRPr>
                    </a:p>
                  </a:txBody>
                  <a:tcPr marL="77674" marR="69907" marT="48546" marB="48546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353600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EF123809-BCF9-6E4D-C0CA-2AF37A581046}"/>
              </a:ext>
            </a:extLst>
          </p:cNvPr>
          <p:cNvSpPr txBox="1">
            <a:spLocks/>
          </p:cNvSpPr>
          <p:nvPr/>
        </p:nvSpPr>
        <p:spPr>
          <a:xfrm>
            <a:off x="389964" y="2541494"/>
            <a:ext cx="8627604" cy="493536"/>
          </a:xfr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1600" dirty="0">
                <a:solidFill>
                  <a:srgbClr val="0070C0"/>
                </a:solidFill>
              </a:rPr>
              <a:t>Key Observations for P6</a:t>
            </a:r>
          </a:p>
        </p:txBody>
      </p:sp>
    </p:spTree>
    <p:extLst>
      <p:ext uri="{BB962C8B-B14F-4D97-AF65-F5344CB8AC3E}">
        <p14:creationId xmlns:p14="http://schemas.microsoft.com/office/powerpoint/2010/main" val="973211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84AD-7C4D-37E0-5EC1-C194BF8E3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38B6-CCB1-A418-EA4A-FC2BA1F3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Effect of FiO2 on Blood Oxygen Levels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2132E-31CF-93B1-3A3E-3CAE22D1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CE139-7B90-4049-763B-B11B5B21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20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2A7A85E-E722-8FFE-866F-A83FF97380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A9AED68-2B58-BAEE-CC79-DFA9887E9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952" y="697258"/>
            <a:ext cx="4667445" cy="34357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3D48F6-4B4E-AFDA-9EE7-689683485BE6}"/>
              </a:ext>
            </a:extLst>
          </p:cNvPr>
          <p:cNvSpPr txBox="1"/>
          <p:nvPr/>
        </p:nvSpPr>
        <p:spPr>
          <a:xfrm>
            <a:off x="290793" y="582931"/>
            <a:ext cx="39786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dirty="0"/>
              <a:t>This graph shows how increasing </a:t>
            </a:r>
            <a:r>
              <a:rPr lang="en-IN" sz="1200" b="1" dirty="0"/>
              <a:t>FiO2 (Fraction of Inspired Oxygen)</a:t>
            </a:r>
            <a:r>
              <a:rPr lang="en-IN" sz="1200" dirty="0"/>
              <a:t> affects the patient’s arterial oxygen level (</a:t>
            </a:r>
            <a:r>
              <a:rPr lang="en-IN" sz="1200" b="1" dirty="0"/>
              <a:t>PaO2</a:t>
            </a:r>
            <a:r>
              <a:rPr lang="en-IN" sz="1200" dirty="0"/>
              <a:t>).</a:t>
            </a:r>
          </a:p>
          <a:p>
            <a:pPr>
              <a:buNone/>
            </a:pPr>
            <a:endParaRPr lang="en-IN" sz="1200" dirty="0"/>
          </a:p>
          <a:p>
            <a:r>
              <a:rPr lang="en-IN" sz="1200" b="1" dirty="0"/>
              <a:t>30% FiO2 → PaO2 = 53 mmHg</a:t>
            </a:r>
            <a:r>
              <a:rPr lang="en-IN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This is below the normal threshold of 80 mmHg.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Indicates significant hypoxemia (low oxygen in blood). </a:t>
            </a:r>
          </a:p>
          <a:p>
            <a:r>
              <a:rPr lang="en-IN" sz="1200" b="1" dirty="0"/>
              <a:t>60% FiO2 → PaO2 = 96 mmHg</a:t>
            </a:r>
            <a:r>
              <a:rPr lang="en-IN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Oxygenation improves dramatically.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Patient crosses the normal oxygenation threshold. </a:t>
            </a:r>
          </a:p>
          <a:p>
            <a:r>
              <a:rPr lang="en-IN" sz="1200" b="1" dirty="0"/>
              <a:t>100% FiO2 → PaO2 = 189 mmHg</a:t>
            </a:r>
            <a:r>
              <a:rPr lang="en-IN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Very high oxygenation level.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Shows strong response to supplemental oxygen. </a:t>
            </a:r>
          </a:p>
          <a:p>
            <a:endParaRPr lang="en-IN" sz="1200" dirty="0"/>
          </a:p>
          <a:p>
            <a:pPr>
              <a:buNone/>
            </a:pPr>
            <a:r>
              <a:rPr lang="en-IN" sz="1200" b="1" dirty="0"/>
              <a:t>Interpretation</a:t>
            </a:r>
          </a:p>
          <a:p>
            <a:pPr>
              <a:buNone/>
            </a:pPr>
            <a:r>
              <a:rPr lang="en-IN" sz="1200" dirty="0"/>
              <a:t>The graph demonstrates a clear positive relationship between FiO2 and blood oxygenation: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Higher oxygen delivery leads to higher PaO2.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Moderate oxygen support (around 60%) may already restore acceptable oxygen levels.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Extremely high FiO2 gives excellent oxygenation but may not always be clinically ideal long-term due to oxygen toxicity risk. </a:t>
            </a:r>
          </a:p>
          <a:p>
            <a:pPr>
              <a:buNone/>
            </a:pPr>
            <a:r>
              <a:rPr lang="en-IN" sz="1200" dirty="0"/>
              <a:t>The green dashed line at </a:t>
            </a:r>
            <a:r>
              <a:rPr lang="en-IN" sz="1200" b="1" dirty="0"/>
              <a:t>80 mmHg</a:t>
            </a:r>
            <a:r>
              <a:rPr lang="en-IN" sz="1200" dirty="0"/>
              <a:t> represents the approximate normal PaO2 target.</a:t>
            </a:r>
          </a:p>
        </p:txBody>
      </p:sp>
    </p:spTree>
    <p:extLst>
      <p:ext uri="{BB962C8B-B14F-4D97-AF65-F5344CB8AC3E}">
        <p14:creationId xmlns:p14="http://schemas.microsoft.com/office/powerpoint/2010/main" val="3438245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73BC-B088-2BE9-3920-4870E217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EE83-E53D-6A5D-FFB1-26EAFD46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IN" sz="2800" dirty="0"/>
              <a:t>Assisted Control vs Continuous Mandatory Ventilation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BEEA9-1B34-8CE8-1468-95B1E2CE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7318E-D7E3-8F71-325F-CE72E1138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21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C0D2409-AF85-05D7-6A4C-1FA96700AD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8782BD1-4F21-699B-0662-E5080C5A77CE}"/>
              </a:ext>
            </a:extLst>
          </p:cNvPr>
          <p:cNvSpPr txBox="1"/>
          <p:nvPr/>
        </p:nvSpPr>
        <p:spPr>
          <a:xfrm>
            <a:off x="290793" y="582931"/>
            <a:ext cx="43753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Respiratory Rate</a:t>
            </a:r>
          </a:p>
          <a:p>
            <a:r>
              <a:rPr lang="en-US" sz="1200" dirty="0"/>
              <a:t>Assisted Control shows a higher respiratory rate because the mode allows patient-triggered breaths in addition to mandatory breaths, while CMV delivers fixed ventilation support.</a:t>
            </a:r>
          </a:p>
          <a:p>
            <a:endParaRPr lang="en-US" sz="1200" dirty="0"/>
          </a:p>
          <a:p>
            <a:r>
              <a:rPr lang="en-US" sz="1200" b="1" dirty="0"/>
              <a:t>PaO2 (Blood Oxygen)</a:t>
            </a:r>
          </a:p>
          <a:p>
            <a:r>
              <a:rPr lang="en-US" sz="1200" dirty="0"/>
              <a:t>Both ventilation modes maintain oxygenation above the normal threshold, but Assisted Control provides better overall oxygenation.</a:t>
            </a:r>
          </a:p>
          <a:p>
            <a:endParaRPr lang="en-US" sz="1200" dirty="0"/>
          </a:p>
          <a:p>
            <a:r>
              <a:rPr lang="en-US" sz="1200" b="1" dirty="0"/>
              <a:t>Blood pH</a:t>
            </a:r>
          </a:p>
          <a:p>
            <a:r>
              <a:rPr lang="en-US" sz="1200" dirty="0"/>
              <a:t>Both modes show acidic blood conditions, though Assisted Control maintains slightly better acid-base balance than CMV.</a:t>
            </a:r>
          </a:p>
          <a:p>
            <a:endParaRPr lang="en-US" sz="1200" dirty="0"/>
          </a:p>
          <a:p>
            <a:r>
              <a:rPr lang="en-US" sz="1200" b="1" dirty="0"/>
              <a:t>Heart Rate</a:t>
            </a:r>
          </a:p>
          <a:p>
            <a:r>
              <a:rPr lang="en-US" sz="1200" dirty="0"/>
              <a:t>Continuous Mandatory Ventilation results in a higher heart rate, indicating greater physiological stress compared to Assisted Control.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Overall, Assisted Control ventilation performs better by improving oxygenation, maintaining more stable pH, and reducing cardiovascular stress compared to Continuous Mandatory Ventilation.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1988E-B13C-437B-52AD-647A211E1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2" y="732864"/>
            <a:ext cx="4375336" cy="376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48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56E4-6A1C-249A-3EFC-4934E7C9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EB29B-CC7E-FF80-0E64-22C99E0D3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ARDS Severity Strongly Predicts Patient Outcomes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ED7BD-8458-24FF-205A-E5B77B0C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EC43B-5374-775E-4225-451DE784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22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A32AACA-E57B-8038-BC93-02AEB96074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EF785F-7270-2ECA-9EB4-C902EBA36CD8}"/>
              </a:ext>
            </a:extLst>
          </p:cNvPr>
          <p:cNvSpPr txBox="1"/>
          <p:nvPr/>
        </p:nvSpPr>
        <p:spPr>
          <a:xfrm>
            <a:off x="290793" y="582931"/>
            <a:ext cx="43753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This figure shows how increasing ARDS severity affects major physiological parameters.</a:t>
            </a:r>
          </a:p>
          <a:p>
            <a:endParaRPr lang="en-US" sz="1200" dirty="0"/>
          </a:p>
          <a:p>
            <a:r>
              <a:rPr lang="en-US" sz="1200" b="1" dirty="0"/>
              <a:t>Oxygenation by ARDS Severity</a:t>
            </a:r>
          </a:p>
          <a:p>
            <a:r>
              <a:rPr lang="en-US" sz="1200" dirty="0"/>
              <a:t>As ARDS severity increases, blood oxygen levels decrease significantly. Severe ARDS leads to oxygen levels falling below the normal threshold, showing impaired gas exchange in the lungs.</a:t>
            </a:r>
          </a:p>
          <a:p>
            <a:endParaRPr lang="en-US" sz="1200" dirty="0"/>
          </a:p>
          <a:p>
            <a:r>
              <a:rPr lang="en-US" sz="1200" b="1" dirty="0"/>
              <a:t>Heart Rate by ARDS Severity</a:t>
            </a:r>
          </a:p>
          <a:p>
            <a:r>
              <a:rPr lang="en-US" sz="1200" dirty="0"/>
              <a:t>Heart rate increases with disease severity, indicating greater cardiovascular stress and compensatory response to reduced oxygen delivery.</a:t>
            </a:r>
          </a:p>
          <a:p>
            <a:endParaRPr lang="en-US" sz="1200" dirty="0"/>
          </a:p>
          <a:p>
            <a:r>
              <a:rPr lang="en-US" sz="1200" b="1" dirty="0"/>
              <a:t>Blood pH by ARDS Severity</a:t>
            </a:r>
          </a:p>
          <a:p>
            <a:r>
              <a:rPr lang="en-US" sz="1200" dirty="0"/>
              <a:t>Blood pH gradually decreases as ARDS becomes more severe, showing worsening acidosis and overall physiological imbalance.</a:t>
            </a:r>
          </a:p>
          <a:p>
            <a:endParaRPr lang="en-US" sz="1200" b="1" dirty="0"/>
          </a:p>
          <a:p>
            <a:r>
              <a:rPr lang="en-US" sz="1200" dirty="0">
                <a:solidFill>
                  <a:srgbClr val="FF0000"/>
                </a:solidFill>
              </a:rPr>
              <a:t>The graph demonstrates that increasing ARDS severity is associated with poorer patient outcomes, including reduced oxygenation, higher cardiovascular stress, and worsening acid-base balance.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94B1B4-E427-6104-98EF-063D7786C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263" y="833718"/>
            <a:ext cx="4572000" cy="30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146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CE5A-4DA9-524A-477F-3179D4DF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5813-67C0-2EF3-08F0-2C6D4E84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Distribution of Patient Outcomes Across 3,888 Simulations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341AB-C58B-A0D9-4584-2874D5DB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02DDE-036F-4680-4EBE-2C10F98F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23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B55AE81-0A08-AEA5-6D05-09D001C01D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0471D02-7635-83AC-C3A5-5E86E72EB159}"/>
              </a:ext>
            </a:extLst>
          </p:cNvPr>
          <p:cNvSpPr txBox="1"/>
          <p:nvPr/>
        </p:nvSpPr>
        <p:spPr>
          <a:xfrm>
            <a:off x="290793" y="582931"/>
            <a:ext cx="43753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This histogram shows the distribution of overall patient health scores obtained from all simulations.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Distribution of Health Scores</a:t>
            </a:r>
          </a:p>
          <a:p>
            <a:r>
              <a:rPr lang="en-US" sz="1200" dirty="0"/>
              <a:t>Most patients fall within the poor to moderate health score ranges, while fewer patients achieve extremely low or extremely high scores.</a:t>
            </a:r>
          </a:p>
          <a:p>
            <a:endParaRPr lang="en-US" sz="1200" dirty="0"/>
          </a:p>
          <a:p>
            <a:r>
              <a:rPr lang="en-US" sz="1200" b="1" dirty="0"/>
              <a:t>Mean and Median</a:t>
            </a:r>
          </a:p>
          <a:p>
            <a:r>
              <a:rPr lang="en-US" sz="1200" dirty="0"/>
              <a:t>The mean and median values are close to each other, indicating a fairly balanced distribution without strong skewness.</a:t>
            </a:r>
          </a:p>
          <a:p>
            <a:endParaRPr lang="en-US" sz="1200" dirty="0"/>
          </a:p>
          <a:p>
            <a:r>
              <a:rPr lang="en-US" sz="1200" b="1" dirty="0"/>
              <a:t>Variability in Outcomes</a:t>
            </a:r>
          </a:p>
          <a:p>
            <a:r>
              <a:rPr lang="en-US" sz="1200" dirty="0"/>
              <a:t>The wide spread of scores suggests significant variability in patient response depending on disease severity and treatment conditions.</a:t>
            </a:r>
          </a:p>
          <a:p>
            <a:endParaRPr lang="en-US" sz="1200" dirty="0"/>
          </a:p>
          <a:p>
            <a:r>
              <a:rPr lang="en-US" sz="1200" dirty="0"/>
              <a:t>Overall, the simulations show that most patients achieve intermediate outcomes, while only a smaller group reaches either critical or excellent health conditions.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818FA9-B288-93A1-6EF3-BADBC93B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049" y="1076467"/>
            <a:ext cx="4447348" cy="25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38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41CC8-59CB-FF44-8AA1-DE549EC5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3B22-F411-5938-42D7-A85E8400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Patient Physiological Response Over 6 Hours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3C6F3-553B-0A5D-E10D-7D01B963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A0791E-9C10-B507-074E-67DA95D9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24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B82B2A6-1075-DDCD-5954-0D7410E074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1E6E4B7-774F-6C5E-CF25-A291FE08C05F}"/>
              </a:ext>
            </a:extLst>
          </p:cNvPr>
          <p:cNvSpPr txBox="1"/>
          <p:nvPr/>
        </p:nvSpPr>
        <p:spPr>
          <a:xfrm>
            <a:off x="290793" y="582931"/>
            <a:ext cx="437533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This figure compares the physiological response of patients over 6 hours under Assisted Control (AC) and Continuous Mandatory Ventilation (CMV).</a:t>
            </a:r>
          </a:p>
          <a:p>
            <a:endParaRPr lang="en-US" sz="1200" dirty="0"/>
          </a:p>
          <a:p>
            <a:r>
              <a:rPr lang="en-US" sz="1200" b="1" dirty="0"/>
              <a:t>Heart Rate Over Time</a:t>
            </a:r>
          </a:p>
          <a:p>
            <a:r>
              <a:rPr lang="en-US" sz="1200" dirty="0"/>
              <a:t>Patients under CMV show consistently higher heart rates, indicating greater physiological stress compared to AC.</a:t>
            </a:r>
          </a:p>
          <a:p>
            <a:endParaRPr lang="en-US" sz="1200" dirty="0"/>
          </a:p>
          <a:p>
            <a:r>
              <a:rPr lang="en-US" sz="1200" b="1" dirty="0"/>
              <a:t>Oxygenation Over Time</a:t>
            </a:r>
          </a:p>
          <a:p>
            <a:r>
              <a:rPr lang="en-US" sz="1200" dirty="0"/>
              <a:t>Assisted Control maintains better oxygenation throughout the observation period, showing improved respiratory support.</a:t>
            </a:r>
          </a:p>
          <a:p>
            <a:endParaRPr lang="en-US" sz="1200" dirty="0"/>
          </a:p>
          <a:p>
            <a:r>
              <a:rPr lang="en-US" sz="1200" b="1" dirty="0"/>
              <a:t>Acid-Base Balance</a:t>
            </a:r>
          </a:p>
          <a:p>
            <a:r>
              <a:rPr lang="en-US" sz="1200" dirty="0"/>
              <a:t>Patients receiving AC maintain a more stable blood pH, while CMV patients remain more acidotic.</a:t>
            </a:r>
          </a:p>
          <a:p>
            <a:endParaRPr lang="en-US" sz="1200" dirty="0"/>
          </a:p>
          <a:p>
            <a:r>
              <a:rPr lang="en-US" sz="1200" b="1" dirty="0"/>
              <a:t>Respiratory Rate</a:t>
            </a:r>
          </a:p>
          <a:p>
            <a:r>
              <a:rPr lang="en-US" sz="1200" dirty="0"/>
              <a:t>AC supports higher respiratory activity due to patient-assisted breathing, whereas CMV provides fixed mandatory breaths.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FF0000"/>
                </a:solidFill>
              </a:rPr>
              <a:t>Overall, Assisted Control ventilation demonstrates better physiological stability and improved patient response over time compared to Continuous Mandatory Ventilation.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0B622A-DB28-9EC0-236B-D086299B7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29" y="887505"/>
            <a:ext cx="4003612" cy="295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20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BE83-9F64-911C-E7C7-33EE9CC8F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A3E25-FFA2-29F2-C03C-D4915181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Patient state space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494FCE-2AC1-6191-CCDD-5FF7F8C77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58F97-D4F4-3B47-8EAA-269A7710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25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6FF6E47-55A8-0A60-FA76-8D82B1A519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7F1346-6298-EAD6-2B59-937CFB8E4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82751"/>
              </p:ext>
            </p:extLst>
          </p:nvPr>
        </p:nvGraphicFramePr>
        <p:xfrm>
          <a:off x="290793" y="679075"/>
          <a:ext cx="3830730" cy="4389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76910">
                  <a:extLst>
                    <a:ext uri="{9D8B030D-6E8A-4147-A177-3AD203B41FA5}">
                      <a16:colId xmlns:a16="http://schemas.microsoft.com/office/drawing/2014/main" val="3635867156"/>
                    </a:ext>
                  </a:extLst>
                </a:gridCol>
                <a:gridCol w="1276910">
                  <a:extLst>
                    <a:ext uri="{9D8B030D-6E8A-4147-A177-3AD203B41FA5}">
                      <a16:colId xmlns:a16="http://schemas.microsoft.com/office/drawing/2014/main" val="2174177014"/>
                    </a:ext>
                  </a:extLst>
                </a:gridCol>
                <a:gridCol w="1276910">
                  <a:extLst>
                    <a:ext uri="{9D8B030D-6E8A-4147-A177-3AD203B41FA5}">
                      <a16:colId xmlns:a16="http://schemas.microsoft.com/office/drawing/2014/main" val="3566847528"/>
                    </a:ext>
                  </a:extLst>
                </a:gridCol>
              </a:tblGrid>
              <a:tr h="188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Vital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Unit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Clinical Role in 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3771"/>
                  </a:ext>
                </a:extLst>
              </a:tr>
              <a:tr h="41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Heart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beats/min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Reflects hemodynamic stress; compensatory tachycardia in hypoxia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45094625"/>
                  </a:ext>
                </a:extLst>
              </a:tr>
              <a:tr h="301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mmHg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Organ perfusion pressure; must stay &gt;65 in ARDS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89329576"/>
                  </a:ext>
                </a:extLst>
              </a:tr>
              <a:tr h="41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0 to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Primary bedside oxygenation monitor; ARDS target 0.92–0.98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03602630"/>
                  </a:ext>
                </a:extLst>
              </a:tr>
              <a:tr h="41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PaO₂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mmHg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Direct measure of oxygenation failure  defines ARDS severity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2433246"/>
                  </a:ext>
                </a:extLst>
              </a:tr>
              <a:tr h="52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PaCO₂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mmHg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Ventilation adequacy; permissive hypercapnia (up to 55) accepted in ARDS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12958"/>
                  </a:ext>
                </a:extLst>
              </a:tr>
              <a:tr h="41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Acid-base balance; mild acidosis (7.30–7.45) tolerated in ARDS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0824961"/>
                  </a:ext>
                </a:extLst>
              </a:tr>
              <a:tr h="41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Respiratory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breaths/min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Ventilator-patient synchrony and breathing effort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36590369"/>
                  </a:ext>
                </a:extLst>
              </a:tr>
              <a:tr h="41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Tidal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mL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Measured lung output; lung-protective compliance indicator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61245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B26E8AB-B747-2894-C002-AEC9BA8B8271}"/>
              </a:ext>
            </a:extLst>
          </p:cNvPr>
          <p:cNvSpPr txBox="1"/>
          <p:nvPr/>
        </p:nvSpPr>
        <p:spPr>
          <a:xfrm>
            <a:off x="4121523" y="625531"/>
            <a:ext cx="4796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the vitals recorded from every Pulse simulation : 8 per time snapshot, across 4 time points (0h, 2h, 4h, 6h)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B17F5-178C-2A78-6E14-97D5FDFAA75B}"/>
              </a:ext>
            </a:extLst>
          </p:cNvPr>
          <p:cNvSpPr txBox="1"/>
          <p:nvPr/>
        </p:nvSpPr>
        <p:spPr>
          <a:xfrm>
            <a:off x="4121523" y="1946720"/>
            <a:ext cx="43837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Patient profile fixed across all simulations:</a:t>
            </a:r>
            <a:r>
              <a:rPr lang="en-US" dirty="0"/>
              <a:t> Male, 45 years, 173 cm, 66 kg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Two disease severity inputs: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ARDS Severity: 0.3 (mild), 0.6 (moderate), 0.9 (severe)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Brain Injury Severity: 0.3 (mild), 0.7 (severe)</a:t>
            </a:r>
          </a:p>
        </p:txBody>
      </p:sp>
    </p:spTree>
    <p:extLst>
      <p:ext uri="{BB962C8B-B14F-4D97-AF65-F5344CB8AC3E}">
        <p14:creationId xmlns:p14="http://schemas.microsoft.com/office/powerpoint/2010/main" val="1697174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1ED3-874D-3A4C-65F9-C58C041E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884F-52C6-BBE2-DF9A-E7B2E6DD6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05" y="144600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Action space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A1A40-59F7-4F2F-BD2F-24803FF5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559E7-CA16-94A5-FAE4-ED7EFD90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26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16A35A2-F5C6-6500-A918-D810AB066C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FADC79-D5FC-16FA-579D-0C8E27646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80939"/>
              </p:ext>
            </p:extLst>
          </p:nvPr>
        </p:nvGraphicFramePr>
        <p:xfrm>
          <a:off x="363069" y="1496630"/>
          <a:ext cx="3704664" cy="1630680"/>
        </p:xfrm>
        <a:graphic>
          <a:graphicData uri="http://schemas.openxmlformats.org/drawingml/2006/table">
            <a:tbl>
              <a:tblPr/>
              <a:tblGrid>
                <a:gridCol w="1852332">
                  <a:extLst>
                    <a:ext uri="{9D8B030D-6E8A-4147-A177-3AD203B41FA5}">
                      <a16:colId xmlns:a16="http://schemas.microsoft.com/office/drawing/2014/main" val="4090012671"/>
                    </a:ext>
                  </a:extLst>
                </a:gridCol>
                <a:gridCol w="1852332">
                  <a:extLst>
                    <a:ext uri="{9D8B030D-6E8A-4147-A177-3AD203B41FA5}">
                      <a16:colId xmlns:a16="http://schemas.microsoft.com/office/drawing/2014/main" val="1730293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Mode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Full Name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66230"/>
                  </a:ext>
                </a:extLst>
              </a:tr>
              <a:tr h="19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Assisted Pressure Control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55387"/>
                  </a:ext>
                </a:extLst>
              </a:tr>
              <a:tr h="314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Continuous Mandatory Pressure Control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991795"/>
                  </a:ext>
                </a:extLst>
              </a:tr>
              <a:tr h="1907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Assisted Volume Control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539229"/>
                  </a:ext>
                </a:extLst>
              </a:tr>
              <a:tr h="314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CMV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Continuous Mandatory Volume Control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42296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67765A-4D8A-7E81-9BCF-939FB98D5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84512"/>
              </p:ext>
            </p:extLst>
          </p:nvPr>
        </p:nvGraphicFramePr>
        <p:xfrm>
          <a:off x="4572000" y="1275455"/>
          <a:ext cx="3792168" cy="3044775"/>
        </p:xfrm>
        <a:graphic>
          <a:graphicData uri="http://schemas.openxmlformats.org/drawingml/2006/table">
            <a:tbl>
              <a:tblPr/>
              <a:tblGrid>
                <a:gridCol w="948042">
                  <a:extLst>
                    <a:ext uri="{9D8B030D-6E8A-4147-A177-3AD203B41FA5}">
                      <a16:colId xmlns:a16="http://schemas.microsoft.com/office/drawing/2014/main" val="2443715164"/>
                    </a:ext>
                  </a:extLst>
                </a:gridCol>
                <a:gridCol w="948042">
                  <a:extLst>
                    <a:ext uri="{9D8B030D-6E8A-4147-A177-3AD203B41FA5}">
                      <a16:colId xmlns:a16="http://schemas.microsoft.com/office/drawing/2014/main" val="1569773695"/>
                    </a:ext>
                  </a:extLst>
                </a:gridCol>
                <a:gridCol w="948042">
                  <a:extLst>
                    <a:ext uri="{9D8B030D-6E8A-4147-A177-3AD203B41FA5}">
                      <a16:colId xmlns:a16="http://schemas.microsoft.com/office/drawing/2014/main" val="1335837523"/>
                    </a:ext>
                  </a:extLst>
                </a:gridCol>
                <a:gridCol w="948042">
                  <a:extLst>
                    <a:ext uri="{9D8B030D-6E8A-4147-A177-3AD203B41FA5}">
                      <a16:colId xmlns:a16="http://schemas.microsoft.com/office/drawing/2014/main" val="3682519386"/>
                    </a:ext>
                  </a:extLst>
                </a:gridCol>
              </a:tblGrid>
              <a:tr h="225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Setting</a:t>
                      </a:r>
                    </a:p>
                  </a:txBody>
                  <a:tcPr marL="83649" marR="83649" marT="41825" marB="41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Description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Unit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Values used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154901"/>
                  </a:ext>
                </a:extLst>
              </a:tr>
              <a:tr h="52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FiO₂</a:t>
                      </a:r>
                    </a:p>
                  </a:txBody>
                  <a:tcPr marL="83649" marR="83649" marT="41825" marB="41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Fraction of Inspired Oxygen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Fraction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0.3, 0.6, 1.0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306152"/>
                  </a:ext>
                </a:extLst>
              </a:tr>
              <a:tr h="675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PEEP</a:t>
                      </a:r>
                    </a:p>
                  </a:txBody>
                  <a:tcPr marL="83649" marR="83649" marT="41825" marB="41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Positive End-Expiratory Pressure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cmH₂O</a:t>
                      </a:r>
                      <a:endParaRPr lang="en-IN" sz="1100" dirty="0"/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6, 10, 14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57051"/>
                  </a:ext>
                </a:extLst>
              </a:tr>
              <a:tr h="52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INS.P</a:t>
                      </a:r>
                    </a:p>
                  </a:txBody>
                  <a:tcPr marL="83649" marR="83649" marT="41825" marB="41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Inspiratory Pressure (PC only)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cmH₂O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8, 14, 20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505420"/>
                  </a:ext>
                </a:extLst>
              </a:tr>
              <a:tr h="375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RR</a:t>
                      </a:r>
                    </a:p>
                  </a:txBody>
                  <a:tcPr marL="83649" marR="83649" marT="41825" marB="41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Respiratory Rate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breaths/min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12, 18, 24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67411"/>
                  </a:ext>
                </a:extLst>
              </a:tr>
              <a:tr h="525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TV</a:t>
                      </a:r>
                    </a:p>
                  </a:txBody>
                  <a:tcPr marL="83649" marR="83649" marT="41825" marB="418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Tidal Volume (VC only)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mL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350, 450, 550, 650</a:t>
                      </a:r>
                    </a:p>
                  </a:txBody>
                  <a:tcPr marL="83649" marR="83649" marT="41825" marB="41825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6382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3AD44A-3550-33BA-0750-23D44800BF60}"/>
              </a:ext>
            </a:extLst>
          </p:cNvPr>
          <p:cNvSpPr txBox="1"/>
          <p:nvPr/>
        </p:nvSpPr>
        <p:spPr>
          <a:xfrm>
            <a:off x="237005" y="965702"/>
            <a:ext cx="379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Ventilator Modes: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4AB416-F7CE-C5FA-E78B-90DADF1F1308}"/>
              </a:ext>
            </a:extLst>
          </p:cNvPr>
          <p:cNvSpPr txBox="1"/>
          <p:nvPr/>
        </p:nvSpPr>
        <p:spPr>
          <a:xfrm>
            <a:off x="4470587" y="855114"/>
            <a:ext cx="3792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Ventilator Setting searched:</a:t>
            </a:r>
          </a:p>
        </p:txBody>
      </p:sp>
    </p:spTree>
    <p:extLst>
      <p:ext uri="{BB962C8B-B14F-4D97-AF65-F5344CB8AC3E}">
        <p14:creationId xmlns:p14="http://schemas.microsoft.com/office/powerpoint/2010/main" val="984845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8543A-F1F1-821E-5C12-1B175DAB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5995-EFB8-90E2-ED9C-4B878F20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05" y="144600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Reward Function : Health Score </a:t>
            </a:r>
            <a:r>
              <a:rPr lang="en-US" sz="2800" dirty="0" err="1"/>
              <a:t>H_t</a:t>
            </a:r>
            <a:r>
              <a:rPr lang="en-US" sz="2800" dirty="0"/>
              <a:t>(</a:t>
            </a:r>
            <a:r>
              <a:rPr lang="en-US" sz="2800" dirty="0" err="1"/>
              <a:t>S_t</a:t>
            </a:r>
            <a:r>
              <a:rPr lang="en-US" sz="2800" dirty="0"/>
              <a:t>)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27C6C-264F-79E4-28F7-9F4DACBE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85A20-972D-C33B-B498-E3244448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27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11FD418-7345-8856-5543-FA9799BD3B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24F23D-E6A5-C1D9-645F-24151049FB88}"/>
                  </a:ext>
                </a:extLst>
              </p:cNvPr>
              <p:cNvSpPr txBox="1"/>
              <p:nvPr/>
            </p:nvSpPr>
            <p:spPr>
              <a:xfrm>
                <a:off x="384922" y="799379"/>
                <a:ext cx="5207372" cy="1663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400" b="1" dirty="0"/>
                  <a:t>Formula:</a:t>
                </a:r>
                <a:endParaRPr lang="en-IN" sz="1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ar-AE" sz="1400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ar-AE" sz="1400" dirty="0"/>
              </a:p>
              <a:p>
                <a:pPr>
                  <a:buNone/>
                </a:pPr>
                <a:r>
                  <a:rPr lang="en-IN" sz="1400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1400" dirty="0"/>
                  <a:t>= </a:t>
                </a:r>
                <a:r>
                  <a:rPr lang="en-IN" sz="1400" dirty="0"/>
                  <a:t>patient state (vitals) at time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IN" sz="14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= </a:t>
                </a:r>
                <a:r>
                  <a:rPr lang="en-IN" sz="1400" dirty="0"/>
                  <a:t>clinical weight of vital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IN" sz="14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400" dirty="0"/>
                  <a:t>= </a:t>
                </a:r>
                <a:r>
                  <a:rPr lang="en-IN" sz="1400" dirty="0"/>
                  <a:t>score of vital </a:t>
                </a:r>
                <a14:m>
                  <m:oMath xmlns:m="http://schemas.openxmlformats.org/officeDocument/2006/math">
                    <m:r>
                      <a:rPr lang="en-IN" sz="1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1400" dirty="0"/>
                  <a:t>∈ [0, 100]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24F23D-E6A5-C1D9-645F-24151049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22" y="799379"/>
                <a:ext cx="5207372" cy="1663597"/>
              </a:xfrm>
              <a:prstGeom prst="rect">
                <a:avLst/>
              </a:prstGeom>
              <a:blipFill>
                <a:blip r:embed="rId2"/>
                <a:stretch>
                  <a:fillRect l="-351" t="-733" b="-32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75CC83-AC98-2C25-4DC2-0246C1B5F6F4}"/>
                  </a:ext>
                </a:extLst>
              </p:cNvPr>
              <p:cNvSpPr txBox="1"/>
              <p:nvPr/>
            </p:nvSpPr>
            <p:spPr>
              <a:xfrm>
                <a:off x="384922" y="2648500"/>
                <a:ext cx="5207372" cy="2147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1400" dirty="0"/>
                  <a:t>Each vital is scored based on how close it is to the ARDS-appropriate clinical target: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sepChr m:val=","/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opt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low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opt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high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ar-AE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 b="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ar-AE" sz="14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ar-AE" sz="14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worst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low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opt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low</m:t>
                                    </m:r>
                                    <m:r>
                                      <a:rPr lang="en-IN" sz="14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worst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low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opt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low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f>
                                  <m:fPr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worst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high</m:t>
                                    </m:r>
                                    <m:r>
                                      <a:rPr lang="en-IN" sz="14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ar-AE" sz="1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 b="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ar-AE" sz="1400" b="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worst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high</m:t>
                                    </m:r>
                                    <m:r>
                                      <a:rPr lang="en-IN" sz="14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opt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1400" b="0" i="1">
                                        <a:latin typeface="Cambria Math" panose="02040503050406030204" pitchFamily="18" charset="0"/>
                                      </a:rPr>
                                      <m:t>high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opt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high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ar-AE" sz="14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worst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low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or</m:t>
                                </m:r>
                                <m:r>
                                  <a:rPr lang="en-IN" sz="1400" b="0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worst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en-IN" sz="1400" b="0" i="1">
                                    <a:latin typeface="Cambria Math" panose="02040503050406030204" pitchFamily="18" charset="0"/>
                                  </a:rPr>
                                  <m:t>high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400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75CC83-AC98-2C25-4DC2-0246C1B5F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22" y="2648500"/>
                <a:ext cx="5207372" cy="2147447"/>
              </a:xfrm>
              <a:prstGeom prst="rect">
                <a:avLst/>
              </a:prstGeom>
              <a:blipFill>
                <a:blip r:embed="rId3"/>
                <a:stretch>
                  <a:fillRect l="-351" t="-283" r="-30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461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16007-6AAE-A604-855B-832FCFCA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5EC3-8A3C-C162-4F06-E36C40D7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BDD902-0D7D-F40E-1A56-0A009938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28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B8C13EE-4845-785E-2A2D-2AB654F31F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60A8A411-5A35-F29C-C8DE-E355A9BA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A31242-6ABA-D60A-98DA-7639F4E983BD}"/>
                  </a:ext>
                </a:extLst>
              </p:cNvPr>
              <p:cNvSpPr txBox="1"/>
              <p:nvPr/>
            </p:nvSpPr>
            <p:spPr>
              <a:xfrm>
                <a:off x="672353" y="1145448"/>
                <a:ext cx="5647764" cy="1893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ar-AE" sz="14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1400" i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1400" i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ar-AE" sz="1400" i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ar-AE" sz="1400" i="0">
                                  <a:latin typeface="Cambria Math" panose="02040503050406030204" pitchFamily="18" charset="0"/>
                                </a:rPr>
                                <m:t>𝒜</m:t>
                              </m:r>
                            </m:lim>
                          </m:limLow>
                        </m:e>
                      </m:func>
                      <m:acc>
                        <m:accPr>
                          <m:chr m:val="̂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d>
                        <m:dPr>
                          <m:sepChr m:val=",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IN" sz="1400" dirty="0"/>
              </a:p>
              <a:p>
                <a:pPr>
                  <a:buNone/>
                </a:pPr>
                <a:endParaRPr lang="ar-AE" sz="1400" dirty="0"/>
              </a:p>
              <a:p>
                <a:pPr>
                  <a:buNone/>
                </a:pPr>
                <a:r>
                  <a:rPr lang="en-IN" sz="1400" dirty="0"/>
                  <a:t>Find the ventilator action a* from the full action space A that gives the highest predicted health score for patient state s.</a:t>
                </a:r>
              </a:p>
              <a:p>
                <a:pPr>
                  <a:buNone/>
                </a:pPr>
                <a:endParaRPr lang="en-IN" sz="1400" dirty="0"/>
              </a:p>
              <a:p>
                <a:pPr>
                  <a:buNone/>
                </a:pPr>
                <a:r>
                  <a:rPr lang="en-IN" sz="1400" dirty="0"/>
                  <a:t>The trained ML model acts as a surrogate for Pulse — instead of re-running 6-hour simulations for every setting, the model predicts H instantly. Grid search runs over all combinations for each of the 6 severity pairs.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A31242-6ABA-D60A-98DA-7639F4E98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53" y="1145448"/>
                <a:ext cx="5647764" cy="1893082"/>
              </a:xfrm>
              <a:prstGeom prst="rect">
                <a:avLst/>
              </a:prstGeom>
              <a:blipFill>
                <a:blip r:embed="rId2"/>
                <a:stretch>
                  <a:fillRect l="-324" t="-323" b="-25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7CB5B48-799C-BE61-09A3-35F581A0527F}"/>
              </a:ext>
            </a:extLst>
          </p:cNvPr>
          <p:cNvSpPr txBox="1"/>
          <p:nvPr/>
        </p:nvSpPr>
        <p:spPr>
          <a:xfrm>
            <a:off x="672353" y="329453"/>
            <a:ext cx="2575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Objective Function</a:t>
            </a:r>
          </a:p>
          <a:p>
            <a:endParaRPr lang="en-IN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3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981B-17CD-9752-4891-F4E000E0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4848-DFF3-EB40-9115-51535C75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Model Comparison Results</a:t>
            </a:r>
            <a:endParaRPr lang="en-IN" sz="27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548F2-2BCE-7D2E-BB78-C6C7BA25A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A90F3-2278-69A6-CCE6-C52EB439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29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1BF5FF0-D433-1D58-0AD9-09EF89B2FD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E7C1B08-15AF-83C3-B187-7F9C57B34895}"/>
              </a:ext>
            </a:extLst>
          </p:cNvPr>
          <p:cNvSpPr txBox="1"/>
          <p:nvPr/>
        </p:nvSpPr>
        <p:spPr>
          <a:xfrm>
            <a:off x="290792" y="582931"/>
            <a:ext cx="8227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 models compared separately for Pressure Control and Volume Control:</a:t>
            </a:r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185545-86A2-AAF5-D22E-AD09D2EE9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00611"/>
              </p:ext>
            </p:extLst>
          </p:nvPr>
        </p:nvGraphicFramePr>
        <p:xfrm>
          <a:off x="420220" y="1199446"/>
          <a:ext cx="4091268" cy="3261360"/>
        </p:xfrm>
        <a:graphic>
          <a:graphicData uri="http://schemas.openxmlformats.org/drawingml/2006/table">
            <a:tbl>
              <a:tblPr/>
              <a:tblGrid>
                <a:gridCol w="1363756">
                  <a:extLst>
                    <a:ext uri="{9D8B030D-6E8A-4147-A177-3AD203B41FA5}">
                      <a16:colId xmlns:a16="http://schemas.microsoft.com/office/drawing/2014/main" val="1694402802"/>
                    </a:ext>
                  </a:extLst>
                </a:gridCol>
                <a:gridCol w="1363756">
                  <a:extLst>
                    <a:ext uri="{9D8B030D-6E8A-4147-A177-3AD203B41FA5}">
                      <a16:colId xmlns:a16="http://schemas.microsoft.com/office/drawing/2014/main" val="3978805818"/>
                    </a:ext>
                  </a:extLst>
                </a:gridCol>
                <a:gridCol w="1363756">
                  <a:extLst>
                    <a:ext uri="{9D8B030D-6E8A-4147-A177-3AD203B41FA5}">
                      <a16:colId xmlns:a16="http://schemas.microsoft.com/office/drawing/2014/main" val="2160972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Test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801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0.9790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2.2598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35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LightGBM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0.9805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2.3776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70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0.9744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2.4910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467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0.9711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2.5999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752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0.9386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4.4481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415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0.6959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10.7313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5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0.1563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18.5206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642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0.1563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18.5095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72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0.0334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19.4775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93620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E599D3D-7824-4006-5618-C54361214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64737"/>
              </p:ext>
            </p:extLst>
          </p:nvPr>
        </p:nvGraphicFramePr>
        <p:xfrm>
          <a:off x="4719917" y="1199446"/>
          <a:ext cx="4003863" cy="3261360"/>
        </p:xfrm>
        <a:graphic>
          <a:graphicData uri="http://schemas.openxmlformats.org/drawingml/2006/table">
            <a:tbl>
              <a:tblPr/>
              <a:tblGrid>
                <a:gridCol w="1334621">
                  <a:extLst>
                    <a:ext uri="{9D8B030D-6E8A-4147-A177-3AD203B41FA5}">
                      <a16:colId xmlns:a16="http://schemas.microsoft.com/office/drawing/2014/main" val="1942173640"/>
                    </a:ext>
                  </a:extLst>
                </a:gridCol>
                <a:gridCol w="1334621">
                  <a:extLst>
                    <a:ext uri="{9D8B030D-6E8A-4147-A177-3AD203B41FA5}">
                      <a16:colId xmlns:a16="http://schemas.microsoft.com/office/drawing/2014/main" val="2198219286"/>
                    </a:ext>
                  </a:extLst>
                </a:gridCol>
                <a:gridCol w="1334621">
                  <a:extLst>
                    <a:ext uri="{9D8B030D-6E8A-4147-A177-3AD203B41FA5}">
                      <a16:colId xmlns:a16="http://schemas.microsoft.com/office/drawing/2014/main" val="3720891635"/>
                    </a:ext>
                  </a:extLst>
                </a:gridCol>
              </a:tblGrid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Test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MAE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408429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LightGBM</a:t>
                      </a:r>
                      <a:endParaRPr lang="en-I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0.8705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4.3599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789094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0.8605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3.9065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489855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0.8295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4.4520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0476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0.7950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4.1262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36185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Gradient Boosting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0.7909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6.6467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49283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0.1464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15.6959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84624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0.1464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15.6944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193596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-0.0758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15.3890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782323"/>
                  </a:ext>
                </a:extLst>
              </a:tr>
              <a:tr h="245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-0.3905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19.9388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983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460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E7276-A79D-14EB-6136-E6197F12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DC95-4445-2581-0972-3DB515BF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793" y="89395"/>
            <a:ext cx="8627604" cy="493536"/>
          </a:xfrm>
        </p:spPr>
        <p:txBody>
          <a:bodyPr>
            <a:noAutofit/>
          </a:bodyPr>
          <a:lstStyle/>
          <a:p>
            <a:pPr algn="l"/>
            <a:r>
              <a:rPr lang="en-US" sz="2700" dirty="0">
                <a:solidFill>
                  <a:srgbClr val="0070C0"/>
                </a:solidFill>
              </a:rPr>
              <a:t>Optimal Ventilator Settings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F289F-056F-E183-295B-406ACFD40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900" dirty="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t>INSERT PRESENTATION TITLE AS FOOTER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A37FE-D415-89CF-B76B-02946F58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F555CB74-0A62-D94A-A834-44B71C7C77EE}" type="slidenum">
              <a:rPr lang="en-US" sz="900">
                <a:solidFill>
                  <a:prstClr val="black">
                    <a:tint val="75000"/>
                  </a:prstClr>
                </a:solidFill>
                <a:latin typeface="Arial" panose="020B0604020202020204"/>
              </a:rPr>
              <a:pPr algn="r" defTabSz="685800">
                <a:defRPr/>
              </a:pPr>
              <a:t>30</a:t>
            </a:fld>
            <a:endParaRPr lang="en-US" sz="900">
              <a:solidFill>
                <a:prstClr val="black">
                  <a:tint val="75000"/>
                </a:prstClr>
              </a:solidFill>
              <a:latin typeface="Arial" panose="020B0604020202020204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F89552-5742-0A2B-7196-00B2D3963D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0" cy="0"/>
        </p:xfrm>
        <a:graphic>
          <a:graphicData uri="http://schemas.openxmlformats.org/drawingml/2006/table">
            <a:tbl>
              <a:tblPr/>
              <a:tblGrid>
                <a:gridCol w="25400">
                  <a:extLst>
                    <a:ext uri="{9D8B030D-6E8A-4147-A177-3AD203B41FA5}">
                      <a16:colId xmlns:a16="http://schemas.microsoft.com/office/drawing/2014/main" val="614899003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5426182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16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Patient ID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83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Brain Injury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9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ARDS Severity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(Mild)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Ventilation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Pressure Control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21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Sub Mode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Continuous Mandatory Ventilation (CMV)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29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FiO2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0.3 (30% oxygen)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6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PEEP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6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63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Inspiratory Pressure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>
                          <a:effectLst/>
                          <a:latin typeface="quote-cjk-patch"/>
                        </a:rPr>
                        <a:t>8 cmH2O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880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1">
                          <a:effectLst/>
                          <a:latin typeface="quote-cjk-patch"/>
                        </a:rPr>
                        <a:t>Respiration Rate (set)</a:t>
                      </a:r>
                      <a:endParaRPr lang="en-IN" sz="100" b="0">
                        <a:effectLst/>
                        <a:latin typeface="quote-cjk-patch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00" b="0" dirty="0">
                          <a:effectLst/>
                          <a:latin typeface="quote-cjk-patch"/>
                        </a:rPr>
                        <a:t>12 breaths/min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6805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4BFAF5-FBF8-75BC-15EB-FB884E920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412674"/>
              </p:ext>
            </p:extLst>
          </p:nvPr>
        </p:nvGraphicFramePr>
        <p:xfrm>
          <a:off x="425263" y="743381"/>
          <a:ext cx="6755463" cy="3262311"/>
        </p:xfrm>
        <a:graphic>
          <a:graphicData uri="http://schemas.openxmlformats.org/drawingml/2006/table">
            <a:tbl>
              <a:tblPr/>
              <a:tblGrid>
                <a:gridCol w="750607">
                  <a:extLst>
                    <a:ext uri="{9D8B030D-6E8A-4147-A177-3AD203B41FA5}">
                      <a16:colId xmlns:a16="http://schemas.microsoft.com/office/drawing/2014/main" val="1511446145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816522033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2693267828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2151003107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3258735294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3756347994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3528769098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1626323149"/>
                    </a:ext>
                  </a:extLst>
                </a:gridCol>
                <a:gridCol w="750607">
                  <a:extLst>
                    <a:ext uri="{9D8B030D-6E8A-4147-A177-3AD203B41FA5}">
                      <a16:colId xmlns:a16="http://schemas.microsoft.com/office/drawing/2014/main" val="3583386762"/>
                    </a:ext>
                  </a:extLst>
                </a:gridCol>
              </a:tblGrid>
              <a:tr h="340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ARDS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BI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Mode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Sub-Mode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/>
                        <a:t>FiO</a:t>
                      </a:r>
                      <a:r>
                        <a:rPr lang="en-IN" sz="1200" dirty="0"/>
                        <a:t>₂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PEEP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INS.P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RR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Score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712442"/>
                  </a:ext>
                </a:extLst>
              </a:tr>
              <a:tr h="486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Mild (0.3)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Mild (0.3)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Pressure Control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PC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0.3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12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87.5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69194"/>
                  </a:ext>
                </a:extLst>
              </a:tr>
              <a:tr h="486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Mild (0.3)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Severe (0.7)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Pressure Control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PC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0.6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12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87.2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122217"/>
                  </a:ext>
                </a:extLst>
              </a:tr>
              <a:tr h="486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 (0.6)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Mild (0.3)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Volume Control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VC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0.6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N/A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18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84.5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887180"/>
                  </a:ext>
                </a:extLst>
              </a:tr>
              <a:tr h="486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Moderate (0.6)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Severe (0.7)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Volume Control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VC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0.6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N/A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12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84.5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82878"/>
                  </a:ext>
                </a:extLst>
              </a:tr>
              <a:tr h="486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Severe (0.9)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Mild (0.3)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Volume Control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VC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1.0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N/A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24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84.1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154504"/>
                  </a:ext>
                </a:extLst>
              </a:tr>
              <a:tr h="486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Severe (0.9)</a:t>
                      </a:r>
                    </a:p>
                  </a:txBody>
                  <a:tcPr marL="48691" marR="48691" marT="24346" marB="243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Severe (0.7)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Volume Control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VC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1.0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N/A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24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84.2</a:t>
                      </a:r>
                    </a:p>
                  </a:txBody>
                  <a:tcPr marL="48691" marR="48691" marT="24346" marB="24346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028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60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4548</Words>
  <Application>Microsoft Office PowerPoint</Application>
  <PresentationFormat>On-screen Show (16:9)</PresentationFormat>
  <Paragraphs>1102</Paragraphs>
  <Slides>30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Cambria Math</vt:lpstr>
      <vt:lpstr>quote-cjk-patch</vt:lpstr>
      <vt:lpstr>Office Theme</vt:lpstr>
      <vt:lpstr>Optimization of Mechanical Ventilation in ARDS</vt:lpstr>
      <vt:lpstr>Problem statement</vt:lpstr>
      <vt:lpstr>Motivation</vt:lpstr>
      <vt:lpstr>Objectives and Workflow</vt:lpstr>
      <vt:lpstr>Literature Review</vt:lpstr>
      <vt:lpstr>Simulation Setup</vt:lpstr>
      <vt:lpstr>All Ventilator Parameters Explained</vt:lpstr>
      <vt:lpstr>Experimental Design</vt:lpstr>
      <vt:lpstr>Disease parameters (What's wrong with the patient)</vt:lpstr>
      <vt:lpstr>Mode parameters (How the ventilator works)</vt:lpstr>
      <vt:lpstr>Common Settings</vt:lpstr>
      <vt:lpstr>Pressure Control</vt:lpstr>
      <vt:lpstr>Volume Control</vt:lpstr>
      <vt:lpstr>What We Measure (Output Parameters)</vt:lpstr>
      <vt:lpstr>P1 Configuration</vt:lpstr>
      <vt:lpstr>Results over time for P1</vt:lpstr>
      <vt:lpstr>P6 Configuration</vt:lpstr>
      <vt:lpstr>Results over time for P6</vt:lpstr>
      <vt:lpstr>Key Observations for P1</vt:lpstr>
      <vt:lpstr>Effect of FiO2 on Blood Oxygen Levels</vt:lpstr>
      <vt:lpstr>Assisted Control vs Continuous Mandatory Ventilation</vt:lpstr>
      <vt:lpstr>ARDS Severity Strongly Predicts Patient Outcomes</vt:lpstr>
      <vt:lpstr>Distribution of Patient Outcomes Across 3,888 Simulations</vt:lpstr>
      <vt:lpstr>Patient Physiological Response Over 6 Hours</vt:lpstr>
      <vt:lpstr>Patient state space</vt:lpstr>
      <vt:lpstr>Action space</vt:lpstr>
      <vt:lpstr>Reward Function : Health Score H_t(S_t)</vt:lpstr>
      <vt:lpstr>   </vt:lpstr>
      <vt:lpstr>Model Comparison Results</vt:lpstr>
      <vt:lpstr>Optimal Ventilator Settings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Shreya Singal</cp:lastModifiedBy>
  <cp:revision>6</cp:revision>
  <dcterms:created xsi:type="dcterms:W3CDTF">2026-04-05T22:23:53Z</dcterms:created>
  <dcterms:modified xsi:type="dcterms:W3CDTF">2026-05-10T18:39:20Z</dcterms:modified>
</cp:coreProperties>
</file>